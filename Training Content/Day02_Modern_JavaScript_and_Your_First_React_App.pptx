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3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5356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 min (08:30)</a:t>
            </a:r>
          </a:p>
          <a:p>
            <a:endParaRPr lang="en-US" dirty="0"/>
          </a:p>
          <a:p>
            <a:r>
              <a:rPr lang="en-US" dirty="0"/>
              <a:t>SAY: Welcome, Day 2. Yesterday: toolkit + first JavaScript. Today: modern JavaScript style used in every React codebase → run first React app by end of day.</a:t>
            </a:r>
          </a:p>
          <a:p>
            <a:endParaRPr lang="en-US" dirty="0"/>
          </a:p>
          <a:p>
            <a:r>
              <a:rPr lang="en-US" dirty="0"/>
              <a:t>DO: Ask who did take-home summariseTasks; one delegate shows solution after knowledge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10 min</a:t>
            </a:r>
          </a:p>
          <a:p>
            <a:endParaRPr lang="en-US" dirty="0"/>
          </a:p>
          <a:p>
            <a:r>
              <a:rPr lang="en-US" dirty="0"/>
              <a:t>SAY: Five quick questions on yesterday; call out answers.</a:t>
            </a:r>
          </a:p>
          <a:p>
            <a:endParaRPr lang="en-US" dirty="0"/>
          </a:p>
          <a:p>
            <a:r>
              <a:rPr lang="en-US" dirty="0"/>
              <a:t>ANSWERS:</a:t>
            </a:r>
          </a:p>
          <a:p>
            <a:r>
              <a:rPr lang="en-US" dirty="0"/>
              <a:t>1. Installs/manages JavaScript packages (libraries); runs project scripts.</a:t>
            </a:r>
          </a:p>
          <a:p>
            <a:r>
              <a:rPr lang="en-US" dirty="0"/>
              <a:t>2. git init, git add, git commit, git push (+ git remote add first time).</a:t>
            </a:r>
          </a:p>
          <a:p>
            <a:r>
              <a:rPr lang="en-US" dirty="0"/>
              <a:t>3. CSS Grid.</a:t>
            </a:r>
          </a:p>
          <a:p>
            <a:r>
              <a:rPr lang="en-US" dirty="0"/>
              <a:t>4. const.</a:t>
            </a:r>
          </a:p>
          <a:p>
            <a:r>
              <a:rPr lang="en-US" dirty="0"/>
              <a:t>5. == converts types; use === and compare to number 18.</a:t>
            </a:r>
          </a:p>
          <a:p>
            <a:endParaRPr lang="en-US" dirty="0"/>
          </a:p>
          <a:p>
            <a:r>
              <a:rPr lang="en-US" dirty="0"/>
              <a:t>DO: Delegate shows summariseTasks; note for loop; by lunchtime = two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 min</a:t>
            </a:r>
          </a:p>
          <a:p>
            <a:endParaRPr lang="en-US" dirty="0"/>
          </a:p>
          <a:p>
            <a:r>
              <a:rPr lang="en-US" dirty="0"/>
              <a:t>SAY: Four modules. First two = syntax + data handling, on nearly every line of React. Module 2.3 = asynchronous code (apps talk to servers). Module 2.4 = first React project → TaskBoard.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 min</a:t>
            </a:r>
          </a:p>
          <a:p>
            <a:endParaRPr lang="en-US" dirty="0"/>
          </a:p>
          <a:p>
            <a:r>
              <a:rPr lang="en-US" dirty="0"/>
              <a:t>SAY: ES6 = 2015 JavaScript update; it + yearly updates → shorter, clearer syntax. React uses constantly; strange-looking React file = usually a feature from this module.</a:t>
            </a:r>
          </a:p>
          <a:p>
            <a:endParaRPr lang="en-US" dirty="0"/>
          </a:p>
          <a:p>
            <a:r>
              <a:rPr lang="en-US" dirty="0"/>
              <a:t>DO: Create folder day2 inside react-course; open in VS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8 min</a:t>
            </a:r>
          </a:p>
          <a:p>
            <a:endParaRPr lang="en-US" dirty="0"/>
          </a:p>
          <a:p>
            <a:r>
              <a:rPr lang="en-US" dirty="0"/>
              <a:t>SAY: Arrow functions = shorter functions: drop word function; arrow after parameters.</a:t>
            </a:r>
          </a:p>
          <a:p>
            <a:endParaRPr lang="en-US" dirty="0"/>
          </a:p>
          <a:p>
            <a:r>
              <a:rPr lang="en-US" dirty="0"/>
              <a:t>SAY: Single-expression body → drop braces and return. double: n → n times 2. Everywhere in React, especially inside map.</a:t>
            </a:r>
          </a:p>
          <a:p>
            <a:endParaRPr lang="en-US" dirty="0"/>
          </a:p>
          <a:p>
            <a:r>
              <a:rPr lang="en-US" dirty="0"/>
              <a:t>SAY: Trap: braces need return. Braces, no return → undefined. Many beginner bugs in React lists.</a:t>
            </a:r>
          </a:p>
          <a:p>
            <a:endParaRPr lang="en-US" dirty="0"/>
          </a:p>
          <a:p>
            <a:r>
              <a:rPr lang="en-US" dirty="0"/>
              <a:t>SAY: Template literals: backticks, not quotes; dollar sign + curly braces insert any JavaScript expression. No more "Hello " + name + "!".</a:t>
            </a:r>
          </a:p>
          <a:p>
            <a:endParaRPr lang="en-US" dirty="0"/>
          </a:p>
          <a:p>
            <a:r>
              <a:rPr lang="en-US" dirty="0"/>
              <a:t>DO: Run node modern.js. Then write const bad = (n) =&gt; { n * 2 }; log bad(3) → undefined.</a:t>
            </a:r>
          </a:p>
          <a:p>
            <a:endParaRPr lang="en-US" dirty="0"/>
          </a:p>
          <a:p>
            <a:r>
              <a:rPr lang="en-US" dirty="0"/>
              <a:t>TIP: Backtick: US or UK PC layout = left of 1 key; UK Mac = next to left Shift; macOS international layouts = may need press then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9 min</a:t>
            </a:r>
          </a:p>
          <a:p>
            <a:endParaRPr lang="en-US" dirty="0"/>
          </a:p>
          <a:p>
            <a:r>
              <a:rPr lang="en-US" dirty="0"/>
              <a:t>SAY: Destructuring = unpack object/array values into variables in one line.</a:t>
            </a:r>
          </a:p>
          <a:p>
            <a:endParaRPr lang="en-US" dirty="0"/>
          </a:p>
          <a:p>
            <a:r>
              <a:rPr lang="en-US" dirty="0"/>
              <a:t>SAY: Objects: property names in curly braces on left, matched by name. Rename with colon; default with equals (used when property missing).</a:t>
            </a:r>
          </a:p>
          <a:p>
            <a:endParaRPr lang="en-US" dirty="0"/>
          </a:p>
          <a:p>
            <a:r>
              <a:rPr lang="en-US" dirty="0"/>
              <a:t>SAY: Arrays: square brackets; position, not names. First variable = first item.</a:t>
            </a:r>
          </a:p>
          <a:p>
            <a:endParaRPr lang="en-US" dirty="0"/>
          </a:p>
          <a:p>
            <a:r>
              <a:rPr lang="en-US" dirty="0"/>
              <a:t>SAY: Key: destructuring in function parameters. TaskRow receives one object, unpacks title and done. Every component tomorrow looks like this; React passes all props as one object.</a:t>
            </a:r>
          </a:p>
          <a:p>
            <a:endParaRPr lang="en-US" dirty="0"/>
          </a:p>
          <a:p>
            <a:r>
              <a:rPr lang="en-US" dirty="0"/>
              <a:t>SAY: Day 4: const [count, setCount] = useState(0) = array destructuring.</a:t>
            </a:r>
          </a:p>
          <a:p>
            <a:endParaRPr lang="en-US" dirty="0"/>
          </a:p>
          <a:p>
            <a:r>
              <a:rPr lang="en-US" dirty="0"/>
              <a:t>DO: Run file. Call TaskRow(task); log result.</a:t>
            </a:r>
          </a:p>
          <a:p>
            <a:endParaRPr lang="en-US" dirty="0"/>
          </a:p>
          <a:p>
            <a:r>
              <a:rPr lang="en-US" dirty="0"/>
              <a:t>ASK: What value does priority get? ("low"; task has no priority property.)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8 min</a:t>
            </a:r>
          </a:p>
          <a:p>
            <a:endParaRPr lang="en-US" dirty="0"/>
          </a:p>
          <a:p>
            <a:r>
              <a:rPr lang="en-US" dirty="0"/>
              <a:t>SAY: Three dots = two jobs, depending on position.</a:t>
            </a:r>
          </a:p>
          <a:p>
            <a:endParaRPr lang="en-US" dirty="0"/>
          </a:p>
          <a:p>
            <a:r>
              <a:rPr lang="en-US" dirty="0"/>
              <a:t>SAY: Spread unpacks. [...tags, "vite"] → new array: tags plus vite. { ...task, done: true } → new object: all task's properties, done overridden. Later properties win → override after spread.</a:t>
            </a:r>
          </a:p>
          <a:p>
            <a:endParaRPr lang="en-US" dirty="0"/>
          </a:p>
          <a:p>
            <a:r>
              <a:rPr lang="en-US" dirty="0"/>
              <a:t>SAY: Key point: original task unchanged. React: never change state directly; make new copy with change, via spread. { ...task, done: true } used often on Day 4.</a:t>
            </a:r>
          </a:p>
          <a:p>
            <a:endParaRPr lang="en-US" dirty="0"/>
          </a:p>
          <a:p>
            <a:r>
              <a:rPr lang="en-US" dirty="0"/>
              <a:t>SAY: Rest collects. const { id, ...details } = task → id pulled out; details = everything else. Function parameter ...nums → all arguments as array.</a:t>
            </a:r>
          </a:p>
          <a:p>
            <a:endParaRPr lang="en-US" dirty="0"/>
          </a:p>
          <a:p>
            <a:r>
              <a:rPr lang="en-US" dirty="0"/>
              <a:t>DO: Run file. Swap to { done: true, ...task } → done false again; later properties win.</a:t>
            </a:r>
          </a:p>
          <a:p>
            <a:endParaRPr lang="en-US" dirty="0"/>
          </a:p>
          <a:p>
            <a:r>
              <a:rPr lang="en-US" dirty="0"/>
              <a:t>IF ASKED "Is the copy deep?": No; shallow copy; nested objects still shared. Nested updates: Day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 min</a:t>
            </a:r>
          </a:p>
          <a:p>
            <a:endParaRPr lang="en-US" dirty="0"/>
          </a:p>
          <a:p>
            <a:r>
              <a:rPr lang="en-US" dirty="0"/>
              <a:t>SAY: Real data messy; user may lack address. user.address.city with address null → app crashes: "Cannot read properties of null".</a:t>
            </a:r>
          </a:p>
          <a:p>
            <a:endParaRPr lang="en-US" dirty="0"/>
          </a:p>
          <a:p>
            <a:r>
              <a:rPr lang="en-US" dirty="0"/>
              <a:t>SAY: Optional chaining (question mark dot): left side null or undefined → returns undefined, no crash. Works on method calls too.</a:t>
            </a:r>
          </a:p>
          <a:p>
            <a:endParaRPr lang="en-US" dirty="0"/>
          </a:p>
          <a:p>
            <a:r>
              <a:rPr lang="en-US" dirty="0"/>
              <a:t>SAY: Nullish coalescing (two question marks): fallback only when left side null or undefined.</a:t>
            </a:r>
          </a:p>
          <a:p>
            <a:endParaRPr lang="en-US" dirty="0"/>
          </a:p>
          <a:p>
            <a:r>
              <a:rPr lang="en-US" dirty="0"/>
              <a:t>SAY: vs OR operator: OR treats 0, empty string, false as "missing"; often wrong. stock is 0: stock || 10 wrongly shows 10; stock ?? 10 keeps 0.</a:t>
            </a:r>
          </a:p>
          <a:p>
            <a:endParaRPr lang="en-US" dirty="0"/>
          </a:p>
          <a:p>
            <a:r>
              <a:rPr lang="en-US" dirty="0"/>
              <a:t>DO: Uncomment crashing line; run; read TypeError. Fix with ?.; rerun.</a:t>
            </a:r>
          </a:p>
          <a:p>
            <a:endParaRPr lang="en-US" dirty="0"/>
          </a:p>
          <a:p>
            <a:r>
              <a:rPr lang="en-US" dirty="0"/>
              <a:t>ASK: Discount is 0; which operator for the default: || or ??? (??.)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 min</a:t>
            </a:r>
          </a:p>
          <a:p>
            <a:endParaRPr lang="en-US" dirty="0"/>
          </a:p>
          <a:p>
            <a:r>
              <a:rPr lang="en-US" dirty="0"/>
              <a:t>SAY: JavaScript starts to feel powerful. These array methods = exact tools React uses to turn data into screens.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10 min</a:t>
            </a:r>
          </a:p>
          <a:p>
            <a:endParaRPr lang="en-US" dirty="0"/>
          </a:p>
          <a:p>
            <a:r>
              <a:rPr lang="en-US" dirty="0"/>
              <a:t>SAY: Three methods replace most for loops. Each takes callback = function run once per item.</a:t>
            </a:r>
          </a:p>
          <a:p>
            <a:endParaRPr lang="en-US" dirty="0"/>
          </a:p>
          <a:p>
            <a:r>
              <a:rPr lang="en-US" dirty="0"/>
              <a:t>SAY: map: transforms every item → new array, same length. Here task objects → title strings; in React, task objects → task components. How every list on every website is rendered.</a:t>
            </a:r>
          </a:p>
          <a:p>
            <a:endParaRPr lang="en-US" dirty="0"/>
          </a:p>
          <a:p>
            <a:r>
              <a:rPr lang="en-US" dirty="0"/>
              <a:t>SAY: filter: keeps items where callback returns true; may be shorter. React: delete = filter item out; search = filter on text.</a:t>
            </a:r>
          </a:p>
          <a:p>
            <a:endParaRPr lang="en-US" dirty="0"/>
          </a:p>
          <a:p>
            <a:r>
              <a:rPr lang="en-US" dirty="0"/>
              <a:t>SAY: find: first matching item, or undefined. Look up one task by id.</a:t>
            </a:r>
          </a:p>
          <a:p>
            <a:endParaRPr lang="en-US" dirty="0"/>
          </a:p>
          <a:p>
            <a:r>
              <a:rPr lang="en-US" dirty="0"/>
              <a:t>SAY: Critical: none change original array; all return new values. Fits React.</a:t>
            </a:r>
          </a:p>
          <a:p>
            <a:endParaRPr lang="en-US" dirty="0"/>
          </a:p>
          <a:p>
            <a:r>
              <a:rPr lang="en-US" dirty="0"/>
              <a:t>DO: Run file; log each result. Delegates write filter for tasks with more than 4 points.</a:t>
            </a:r>
          </a:p>
          <a:p>
            <a:endParaRPr lang="en-US" dirty="0"/>
          </a:p>
          <a:p>
            <a:r>
              <a:rPr lang="en-US" dirty="0"/>
              <a:t>ASK: find returns what if nothing matches? (undefined; pair with ?. when using result.)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8 min</a:t>
            </a:r>
          </a:p>
          <a:p>
            <a:endParaRPr lang="en-US" dirty="0"/>
          </a:p>
          <a:p>
            <a:r>
              <a:rPr lang="en-US" dirty="0"/>
              <a:t>SAY: reduce: all items → single value. Callback gets running total (accumulator) + current item; returns new total. Second argument 0 = starting total. Always provide; otherwise first item is the start, rarely wanted with objects.</a:t>
            </a:r>
          </a:p>
          <a:p>
            <a:endParaRPr lang="en-US" dirty="0"/>
          </a:p>
          <a:p>
            <a:r>
              <a:rPr lang="en-US" dirty="0"/>
              <a:t>SAY: map and filter return arrays → chainable. Read top to bottom: tasks; keep open; each → label; join with commas.</a:t>
            </a:r>
          </a:p>
          <a:p>
            <a:endParaRPr lang="en-US" dirty="0"/>
          </a:p>
          <a:p>
            <a:r>
              <a:rPr lang="en-US" dirty="0"/>
              <a:t>SAY: This morning's promise: summariseTasks homework = two lines.</a:t>
            </a:r>
          </a:p>
          <a:p>
            <a:endParaRPr lang="en-US" dirty="0"/>
          </a:p>
          <a:p>
            <a:r>
              <a:rPr lang="en-US" dirty="0"/>
              <a:t>SAY: Also: some = true if any item passes; every = true if all pass; includes = array contains value. sort changes original array; use toSorted, or sort a spread copy.</a:t>
            </a:r>
          </a:p>
          <a:p>
            <a:endParaRPr lang="en-US" dirty="0"/>
          </a:p>
          <a:p>
            <a:r>
              <a:rPr lang="en-US" dirty="0"/>
              <a:t>DO: Run. Room writes reduce counting only open task points (answer: 13).</a:t>
            </a:r>
          </a:p>
          <a:p>
            <a:endParaRPr lang="en-US" dirty="0"/>
          </a:p>
          <a:p>
            <a:r>
              <a:rPr lang="en-US" dirty="0"/>
              <a:t>IF ASKED "Is reduce hard?": Hardest of the four. filter plus length or simple loop fine until natural.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7 min</a:t>
            </a:r>
          </a:p>
          <a:p>
            <a:endParaRPr lang="en-US" dirty="0"/>
          </a:p>
          <a:p>
            <a:r>
              <a:rPr lang="en-US" dirty="0"/>
              <a:t>SAY: Mutating = change in place. Immutable = original untouched; new version created.</a:t>
            </a:r>
          </a:p>
          <a:p>
            <a:endParaRPr lang="en-US" dirty="0"/>
          </a:p>
          <a:p>
            <a:r>
              <a:rPr lang="en-US" dirty="0"/>
              <a:t>SAY: Left = mutating: push, direct property assignment, splice, sort. Right = immutable equivalents returning new values.</a:t>
            </a:r>
          </a:p>
          <a:p>
            <a:endParaRPr lang="en-US" dirty="0"/>
          </a:p>
          <a:p>
            <a:r>
              <a:rPr lang="en-US" dirty="0"/>
              <a:t>SAY: React redraws by checking whether data is a new object. Old array changed in place = same array → React may think nothing happened; no screen update. Number one "why isn't my screen updating?" bug.</a:t>
            </a:r>
          </a:p>
          <a:p>
            <a:endParaRPr lang="en-US" dirty="0"/>
          </a:p>
          <a:p>
            <a:r>
              <a:rPr lang="en-US" dirty="0"/>
              <a:t>SAY: Analogy: editing a document already printed does not change the printout; React needs a new printout.</a:t>
            </a:r>
          </a:p>
          <a:p>
            <a:endParaRPr lang="en-US" dirty="0"/>
          </a:p>
          <a:p>
            <a:r>
              <a:rPr lang="en-US" dirty="0"/>
              <a:t>SAY: Learn four right-hand patterns: add, update, remove, sort. All used Day 4.</a:t>
            </a:r>
          </a:p>
          <a:p>
            <a:endParaRPr lang="en-US" dirty="0"/>
          </a:p>
          <a:p>
            <a:r>
              <a:rPr lang="en-US" dirty="0"/>
              <a:t>ASK: Immutably remove task with id 2? (tasks.filter(t =&gt; t.id !== 2).)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7 min</a:t>
            </a:r>
          </a:p>
          <a:p>
            <a:endParaRPr lang="en-US" dirty="0"/>
          </a:p>
          <a:p>
            <a:r>
              <a:rPr lang="en-US" dirty="0"/>
              <a:t>SAY: Real apps = many files; modules share code between files.</a:t>
            </a:r>
          </a:p>
          <a:p>
            <a:endParaRPr lang="en-US" dirty="0"/>
          </a:p>
          <a:p>
            <a:r>
              <a:rPr lang="en-US" dirty="0"/>
              <a:t>SAY: Named exports: export before function or variable; import in curly braces, exactly same name.</a:t>
            </a:r>
          </a:p>
          <a:p>
            <a:endParaRPr lang="en-US" dirty="0"/>
          </a:p>
          <a:p>
            <a:r>
              <a:rPr lang="en-US" dirty="0"/>
              <a:t>SAY: Default export: one per file; import without curly braces, any name. React component files usually default-export the component.</a:t>
            </a:r>
          </a:p>
          <a:p>
            <a:endParaRPr lang="en-US" dirty="0"/>
          </a:p>
          <a:p>
            <a:r>
              <a:rPr lang="en-US" dirty="0"/>
              <a:t>SAY: ./ or ../ imports = own files. Bare name such as "react" = package in node_modules, installed with npm.</a:t>
            </a:r>
          </a:p>
          <a:p>
            <a:endParaRPr lang="en-US" dirty="0"/>
          </a:p>
          <a:p>
            <a:r>
              <a:rPr lang="en-US" dirty="0"/>
              <a:t>DO: Show both files. Plain Node: current Node (including Node 24) detects import and export automatically → node app.js works in folder with no package.json. Reliable setup: "type": "module" in package.json, or .mjs extension. Leave out import from "react" when running app.js in day2: React not installed → ERR_MODULE_NOT_FOUND (Cannot find package 'react'); works only inside React project such as TaskBoard. Vite React project already set up for modules; this is only for today's plain JavaScript exercises.</a:t>
            </a:r>
          </a:p>
          <a:p>
            <a:endParaRPr lang="en-US" dirty="0"/>
          </a:p>
          <a:p>
            <a:r>
              <a:rPr lang="en-US" dirty="0"/>
              <a:t>KNOWN ISSUE: "Cannot use import statement outside a module" in Node. Cause: nearest package.json has "type": "commonjs" (npm init -y default now). Fix: "type": "module". No type field → file runs with warning that module type is not specified; "type": "module" removes it.</a:t>
            </a:r>
          </a:p>
          <a:p>
            <a:endParaRPr lang="en-US" dirty="0"/>
          </a:p>
          <a:p>
            <a:r>
              <a:rPr lang="en-US" dirty="0"/>
              <a:t>ASK: Is useState a named or default export of react? (Named; curly braces.)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 min</a:t>
            </a:r>
          </a:p>
          <a:p>
            <a:endParaRPr lang="en-US" dirty="0"/>
          </a:p>
          <a:p>
            <a:r>
              <a:rPr lang="en-US" dirty="0"/>
              <a:t>SAY: Apps constantly wait: server data, file, timer. JavaScript waits without freezing the page; this module explains 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 min</a:t>
            </a:r>
          </a:p>
          <a:p>
            <a:endParaRPr lang="en-US" dirty="0"/>
          </a:p>
          <a:p>
            <a:r>
              <a:rPr lang="en-US" dirty="0"/>
              <a:t>SAY: JavaScript = one thing at a time. Waiting three seconds for server → page frozen three seconds.</a:t>
            </a:r>
          </a:p>
          <a:p>
            <a:endParaRPr lang="en-US" dirty="0"/>
          </a:p>
          <a:p>
            <a:r>
              <a:rPr lang="en-US" dirty="0"/>
              <a:t>SAY: Slow jobs (network requests) handed to browser. JavaScript gets promise immediately; carries on. Server responds → promise fulfilled → event loop schedules follow-up code.</a:t>
            </a:r>
          </a:p>
          <a:p>
            <a:endParaRPr lang="en-US" dirty="0"/>
          </a:p>
          <a:p>
            <a:r>
              <a:rPr lang="en-US" dirty="0"/>
              <a:t>SAY: Analogy: restaurant buzzer. Order → buzzer (= promise) → sit down, not stuck at counter. Food ready → buzzer goes off. Kitchen runs out → promise rejected.</a:t>
            </a:r>
          </a:p>
          <a:p>
            <a:endParaRPr lang="en-US" dirty="0"/>
          </a:p>
          <a:p>
            <a:r>
              <a:rPr lang="en-US" dirty="0"/>
              <a:t>SAY: Promise states: pending, fulfilled or rejected.</a:t>
            </a:r>
          </a:p>
          <a:p>
            <a:endParaRPr lang="en-US" dirty="0"/>
          </a:p>
          <a:p>
            <a:r>
              <a:rPr lang="en-US" dirty="0"/>
              <a:t>DO: Demo: console.log("A"); setTimeout(() =&gt; console.log("B"), 0); console.log("C"); Room predicts order. Output is A, C,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9 min</a:t>
            </a:r>
          </a:p>
          <a:p>
            <a:endParaRPr lang="en-US" dirty="0"/>
          </a:p>
          <a:p>
            <a:r>
              <a:rPr lang="en-US" dirty="0"/>
              <a:t>SAY: fetch = HTTP request; returns promise. JSONPlaceholder = free fake API with sample to-do items.</a:t>
            </a:r>
          </a:p>
          <a:p>
            <a:endParaRPr lang="en-US" dirty="0"/>
          </a:p>
          <a:p>
            <a:r>
              <a:rPr lang="en-US" dirty="0"/>
              <a:t>SAY: Style 1: chained .then calls; each .then receives previous step's result. .catch handles any failure.</a:t>
            </a:r>
          </a:p>
          <a:p>
            <a:endParaRPr lang="en-US" dirty="0"/>
          </a:p>
          <a:p>
            <a:r>
              <a:rPr lang="en-US" dirty="0"/>
              <a:t>SAY: Style 2: async and await; same thing, reads top to bottom. async before function; await before any promise. await pauses only this function until promise settles; rest of app runs.</a:t>
            </a:r>
          </a:p>
          <a:p>
            <a:endParaRPr lang="en-US" dirty="0"/>
          </a:p>
          <a:p>
            <a:r>
              <a:rPr lang="en-US" dirty="0"/>
              <a:t>SAY: Two awaits: response headers arrive; then read and parse body as JSON. JSON = text format APIs send; res.json() → JavaScript arrays and objects, same array-of-objects shape as Module 2.2 tasks.</a:t>
            </a:r>
          </a:p>
          <a:p>
            <a:endParaRPr lang="en-US" dirty="0"/>
          </a:p>
          <a:p>
            <a:r>
              <a:rPr lang="en-US" dirty="0"/>
              <a:t>SAY: async function always returns promise, even for plain value → hence .then on loadTodos().</a:t>
            </a:r>
          </a:p>
          <a:p>
            <a:endParaRPr lang="en-US" dirty="0"/>
          </a:p>
          <a:p>
            <a:r>
              <a:rPr lang="en-US" dirty="0"/>
              <a:t>DO: Run node fetch-demo.js. fetch built into Node; nothing to install.</a:t>
            </a:r>
          </a:p>
          <a:p>
            <a:endParaRPr lang="en-US" dirty="0"/>
          </a:p>
          <a:p>
            <a:r>
              <a:rPr lang="en-US" dirty="0"/>
              <a:t>KNOWN ISSUE: Proxy or firewall: fetch may fail with ENOTFOUND or ECONNRESET. Test URL in browser first. Blocked → ask venue IT, or use browser console.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7 min</a:t>
            </a:r>
          </a:p>
          <a:p>
            <a:endParaRPr lang="en-US" dirty="0"/>
          </a:p>
          <a:p>
            <a:r>
              <a:rPr lang="en-US" dirty="0"/>
              <a:t>SAY: Networks fail. Wrap awaited code in try and catch; throw inside try → jumps to catch.</a:t>
            </a:r>
          </a:p>
          <a:p>
            <a:endParaRPr lang="en-US" dirty="0"/>
          </a:p>
          <a:p>
            <a:r>
              <a:rPr lang="en-US" dirty="0"/>
              <a:t>SAY: Surprise: fetch rejects only on network failure (e.g. no internet). 404 Not Found or 500 Server Error = successful fetch. Check res.ok (true only for status 200 to 299); throw error yourself.</a:t>
            </a:r>
          </a:p>
          <a:p>
            <a:endParaRPr lang="en-US" dirty="0"/>
          </a:p>
          <a:p>
            <a:r>
              <a:rPr lang="en-US" dirty="0"/>
              <a:t>SAY: finally runs on success or failure. React: turn off loading spinner here.</a:t>
            </a:r>
          </a:p>
          <a:p>
            <a:endParaRPr lang="en-US" dirty="0"/>
          </a:p>
          <a:p>
            <a:r>
              <a:rPr lang="en-US" dirty="0"/>
              <a:t>SAY: Every data request: loading, success, error. Day 5 components show all three.</a:t>
            </a:r>
          </a:p>
          <a:p>
            <a:endParaRPr lang="en-US" dirty="0"/>
          </a:p>
          <a:p>
            <a:r>
              <a:rPr lang="en-US" dirty="0"/>
              <a:t>DO: Run. id 1 → title; id 9999 → friendly error message, no crash.</a:t>
            </a:r>
          </a:p>
          <a:p>
            <a:endParaRPr lang="en-US" dirty="0"/>
          </a:p>
          <a:p>
            <a:r>
              <a:rPr lang="en-US" dirty="0"/>
              <a:t>ASK: Why silent break without res.ok check? (404 body parsed and treated as real data.)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 min</a:t>
            </a:r>
          </a:p>
          <a:p>
            <a:endParaRPr lang="en-US" dirty="0"/>
          </a:p>
          <a:p>
            <a:r>
              <a:rPr lang="en-US" dirty="0"/>
              <a:t>SAY: The moment: JavaScript behind React learned; now create a React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</a:t>
            </a:r>
          </a:p>
          <a:p>
            <a:endParaRPr lang="en-US" dirty="0"/>
          </a:p>
          <a:p>
            <a:r>
              <a:rPr lang="en-US" dirty="0"/>
              <a:t>SAY: Component = JavaScript function returning description of what to show. Nest like boxes in boxes.</a:t>
            </a:r>
          </a:p>
          <a:p>
            <a:endParaRPr lang="en-US" dirty="0"/>
          </a:p>
          <a:p>
            <a:r>
              <a:rPr lang="en-US" dirty="0"/>
              <a:t>DO: Show news feed, email inbox or online shop on projector. Draw boxes on whiteboard: header, sidebar, list, each list item, buttons in each item. Name each box as component.</a:t>
            </a:r>
          </a:p>
          <a:p>
            <a:endParaRPr lang="en-US" dirty="0"/>
          </a:p>
          <a:p>
            <a:r>
              <a:rPr lang="en-US" dirty="0"/>
              <a:t>SAY: Power = reuse. TaskCard designed once, rendered a hundred times with different data; change TaskCard → every card updates.</a:t>
            </a:r>
          </a:p>
          <a:p>
            <a:endParaRPr lang="en-US" dirty="0"/>
          </a:p>
          <a:p>
            <a:r>
              <a:rPr lang="en-US" dirty="0"/>
              <a:t>SAY: Component names start with capital letter; distinguishes them from built-in HTML tags like div and button.</a:t>
            </a:r>
          </a:p>
          <a:p>
            <a:endParaRPr lang="en-US" dirty="0"/>
          </a:p>
          <a:p>
            <a:r>
              <a:rPr lang="en-US" dirty="0"/>
              <a:t>ASK: What data would EmailRow component need? (Sender, subject, preview, date, read or unread.) That list = props, tomorrow.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8 min</a:t>
            </a:r>
          </a:p>
          <a:p>
            <a:endParaRPr lang="en-US" dirty="0"/>
          </a:p>
          <a:p>
            <a:r>
              <a:rPr lang="en-US" dirty="0"/>
              <a:t>SAY: Vite = build tool; creates and runs React projects quickly; modern standard for plain React apps.</a:t>
            </a:r>
          </a:p>
          <a:p>
            <a:endParaRPr lang="en-US" dirty="0"/>
          </a:p>
          <a:p>
            <a:r>
              <a:rPr lang="en-US" dirty="0"/>
              <a:t>SAY: npm create vite@latest = latest Vite starter. taskboard = project name. Double dash passes template option through npm. react template = plain JavaScript. --eslint = ESLint as linter; current create-vite defaults to Oxlint. ESLint matches Day 1 VS Code extension; gives React Hooks lint rules relied on from Day 5. TypeScript conversion Day 6.</a:t>
            </a:r>
          </a:p>
          <a:p>
            <a:endParaRPr lang="en-US" dirty="0"/>
          </a:p>
          <a:p>
            <a:r>
              <a:rPr lang="en-US" dirty="0"/>
              <a:t>SAY: Then: move into folder, install dependencies, start development server.</a:t>
            </a:r>
          </a:p>
          <a:p>
            <a:endParaRPr lang="en-US" dirty="0"/>
          </a:p>
          <a:p>
            <a:r>
              <a:rPr lang="en-US" dirty="0"/>
              <a:t>DO: Demo live. Open http://localhost:5173. Click counter button.</a:t>
            </a:r>
          </a:p>
          <a:p>
            <a:endParaRPr lang="en-US" dirty="0"/>
          </a:p>
          <a:p>
            <a:r>
              <a:rPr lang="en-US" dirty="0"/>
              <a:t>KNOWN ISSUE: create-vite may ask extra questions. No --eslint → "Which linter to use?": choose ESLint, not default Oxlint. "Install with npm and start now?": Yes fine; runs npm install and npm run dev, but terminal stays in react-course → cd taskboard after stopping server.</a:t>
            </a:r>
          </a:p>
          <a:p>
            <a:endParaRPr lang="en-US" dirty="0"/>
          </a:p>
          <a:p>
            <a:r>
              <a:rPr lang="en-US" dirty="0"/>
              <a:t>KNOWN ISSUE: "Need to install the following packages: create-vite. Ok to proceed?" Type y, Enter.</a:t>
            </a:r>
          </a:p>
          <a:p>
            <a:endParaRPr lang="en-US" dirty="0"/>
          </a:p>
          <a:p>
            <a:r>
              <a:rPr lang="en-US" dirty="0"/>
              <a:t>KNOWN ISSUE: Port 5173 already in use. Vite picks next port; use URL it prints.</a:t>
            </a:r>
          </a:p>
          <a:p>
            <a:endParaRPr lang="en-US" dirty="0"/>
          </a:p>
          <a:p>
            <a:r>
              <a:rPr lang="en-US" dirty="0"/>
              <a:t>TIP: Keep dev server running; second terminal tab for Git commands.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 min</a:t>
            </a:r>
          </a:p>
          <a:p>
            <a:endParaRPr lang="en-US" dirty="0"/>
          </a:p>
          <a:p>
            <a:r>
              <a:rPr lang="en-US" dirty="0"/>
              <a:t>SAY: Project tour. Open with code . inside taskboard folder.</a:t>
            </a:r>
          </a:p>
          <a:p>
            <a:endParaRPr lang="en-US" dirty="0"/>
          </a:p>
          <a:p>
            <a:r>
              <a:rPr lang="en-US" dirty="0"/>
              <a:t>SAY: node_modules = all installed packages; huge. Never edit or commit; .gitignore excludes it; npm install recreates it.</a:t>
            </a:r>
          </a:p>
          <a:p>
            <a:endParaRPr lang="en-US" dirty="0"/>
          </a:p>
          <a:p>
            <a:r>
              <a:rPr lang="en-US" dirty="0"/>
              <a:t>SAY: index.html = only HTML page. div with id root = empty div where React draws everything → "single-page applications".</a:t>
            </a:r>
          </a:p>
          <a:p>
            <a:endParaRPr lang="en-US" dirty="0"/>
          </a:p>
          <a:p>
            <a:r>
              <a:rPr lang="en-US" dirty="0"/>
              <a:t>SAY: src = where you work. main.jsx = entry point; App.jsx = top component.</a:t>
            </a:r>
          </a:p>
          <a:p>
            <a:endParaRPr lang="en-US" dirty="0"/>
          </a:p>
          <a:p>
            <a:r>
              <a:rPr lang="en-US" dirty="0"/>
              <a:t>SAY: package.json: dependencies (react, react-dom); scripts: dev = dev server; build = production version; lint = ESLint check; preview = test production build.</a:t>
            </a:r>
          </a:p>
          <a:p>
            <a:endParaRPr lang="en-US" dirty="0"/>
          </a:p>
          <a:p>
            <a:r>
              <a:rPr lang="en-US" dirty="0"/>
              <a:t>SAY: .jsx = "JavaScript with JSX", HTML-like syntax; tomorrow.</a:t>
            </a:r>
          </a:p>
          <a:p>
            <a:endParaRPr lang="en-US" dirty="0"/>
          </a:p>
          <a:p>
            <a:r>
              <a:rPr lang="en-US" dirty="0"/>
              <a:t>ASK: Teammate clones repo; what to run before npm run dev? (npm install.)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</a:t>
            </a:r>
          </a:p>
          <a:p>
            <a:endParaRPr lang="en-US" dirty="0"/>
          </a:p>
          <a:p>
            <a:r>
              <a:rPr lang="en-US" dirty="0"/>
              <a:t>SAY: main.jsx: finds root div in index.html, creates React root, renders App component into it. Rarely touched.</a:t>
            </a:r>
          </a:p>
          <a:p>
            <a:endParaRPr lang="en-US" dirty="0"/>
          </a:p>
          <a:p>
            <a:r>
              <a:rPr lang="en-US" dirty="0"/>
              <a:t>SAY: StrictMode = development helper: extra checks; renders components twice in development to catch mistakes; nothing in production. console.log printing twice = this. Do not remove.</a:t>
            </a:r>
          </a:p>
          <a:p>
            <a:endParaRPr lang="en-US" dirty="0"/>
          </a:p>
          <a:p>
            <a:r>
              <a:rPr lang="en-US" dirty="0"/>
              <a:t>SAY: CSS import: Vite lets JavaScript import CSS files; adds them to page.</a:t>
            </a:r>
          </a:p>
          <a:p>
            <a:endParaRPr lang="en-US" dirty="0"/>
          </a:p>
          <a:p>
            <a:r>
              <a:rPr lang="en-US" dirty="0"/>
              <a:t>ASK: Which HTML file contains root div? (index.html in project root.)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</a:t>
            </a:r>
          </a:p>
          <a:p>
            <a:endParaRPr lang="en-US" dirty="0"/>
          </a:p>
          <a:p>
            <a:r>
              <a:rPr lang="en-US" dirty="0"/>
              <a:t>SAY: App.jsx = root component; function returning JSX. Replace everything in App.jsx with this code. Removing starter's App.css and image imports is fine.</a:t>
            </a:r>
          </a:p>
          <a:p>
            <a:endParaRPr lang="en-US" dirty="0"/>
          </a:p>
          <a:p>
            <a:r>
              <a:rPr lang="en-US" dirty="0"/>
              <a:t>DO: Save → browser updates instantly, no manual refresh = Hot Module Replacement, one of Vite's best features.</a:t>
            </a:r>
          </a:p>
          <a:p>
            <a:endParaRPr lang="en-US" dirty="0"/>
          </a:p>
          <a:p>
            <a:r>
              <a:rPr lang="en-US" dirty="0"/>
              <a:t>DO: Change h1 text; save → live update.</a:t>
            </a:r>
          </a:p>
          <a:p>
            <a:endParaRPr lang="en-US" dirty="0"/>
          </a:p>
          <a:p>
            <a:r>
              <a:rPr lang="en-US" dirty="0"/>
              <a:t>SAY: Congratulations: you just wrote a React component.</a:t>
            </a:r>
          </a:p>
          <a:p>
            <a:endParaRPr lang="en-US" dirty="0"/>
          </a:p>
          <a:p>
            <a:r>
              <a:rPr lang="en-US" dirty="0"/>
              <a:t>KNOWN ISSUE: Blank white page after editing. Open DevTools Console. Usual cause: missing export default App line, or typo in a tag.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</a:t>
            </a:r>
          </a:p>
          <a:p>
            <a:endParaRPr lang="en-US" dirty="0"/>
          </a:p>
          <a:p>
            <a:r>
              <a:rPr lang="en-US" dirty="0"/>
              <a:t>SAY: DOM = browser's live model of page. Changing it relatively slow → React avoids unnecessary changes.</a:t>
            </a:r>
          </a:p>
          <a:p>
            <a:endParaRPr lang="en-US" dirty="0"/>
          </a:p>
          <a:p>
            <a:r>
              <a:rPr lang="en-US" dirty="0"/>
              <a:t>SAY: Three phases. Render: React calls component functions → UI description. Compare: against previous description. Commit: only differences applied to real page.</a:t>
            </a:r>
          </a:p>
          <a:p>
            <a:endParaRPr lang="en-US" dirty="0"/>
          </a:p>
          <a:p>
            <a:r>
              <a:rPr lang="en-US" dirty="0"/>
              <a:t>SAY: In-memory description = "virtual DOM". Never touched directly; return JSX, React does the rest.</a:t>
            </a:r>
          </a:p>
          <a:p>
            <a:endParaRPr lang="en-US" dirty="0"/>
          </a:p>
          <a:p>
            <a:r>
              <a:rPr lang="en-US" dirty="0"/>
              <a:t>SAY: Render = first load + every state change. Day 4: button click updates counter; only the number changes on screen.</a:t>
            </a:r>
          </a:p>
          <a:p>
            <a:endParaRPr lang="en-US" dirty="0"/>
          </a:p>
          <a:p>
            <a:r>
              <a:rPr lang="en-US" dirty="0"/>
              <a:t>SAY: Takeaway: component functions run many times; normal. Keep simple, predictable: same inputs, same output.</a:t>
            </a:r>
          </a:p>
          <a:p>
            <a:endParaRPr lang="en-US" dirty="0"/>
          </a:p>
          <a:p>
            <a:r>
              <a:rPr lang="en-US" dirty="0"/>
              <a:t>ASK: List of 100 tasks changes by one item; does React rebuild all 100 on real page? (No; only what changed.)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40 min</a:t>
            </a:r>
          </a:p>
          <a:p>
            <a:endParaRPr lang="en-US" dirty="0"/>
          </a:p>
          <a:p>
            <a:r>
              <a:rPr lang="en-US" dirty="0"/>
              <a:t>SAY: Muscle memory for everyday React patterns. No for loops.</a:t>
            </a:r>
          </a:p>
          <a:p>
            <a:endParaRPr lang="en-US" dirty="0"/>
          </a:p>
          <a:p>
            <a:r>
              <a:rPr lang="en-US" dirty="0"/>
              <a:t>HINT for step 6 (show only if stuck):</a:t>
            </a:r>
          </a:p>
          <a:p>
            <a:r>
              <a:rPr lang="en-US" dirty="0"/>
              <a:t>const updated = products.map((p) =&gt; p.id === 2 ? { ...p, inStock: false } : p);</a:t>
            </a:r>
          </a:p>
          <a:p>
            <a:endParaRPr lang="en-US" dirty="0"/>
          </a:p>
          <a:p>
            <a:r>
              <a:rPr lang="en-US" dirty="0"/>
              <a:t>SAY: map + ternary + spread = how one task is updated in TaskBoard. Everyone must understand before moving on.</a:t>
            </a:r>
          </a:p>
          <a:p>
            <a:endParaRPr lang="en-US" dirty="0"/>
          </a:p>
          <a:p>
            <a:r>
              <a:rPr lang="en-US" dirty="0"/>
              <a:t>VERIFY: console.log original products array at end: product 2 still in stock, product 5 still there → immutability proven.</a:t>
            </a:r>
          </a:p>
          <a:p>
            <a:endParaRPr lang="en-US" dirty="0"/>
          </a:p>
          <a:p>
            <a:r>
              <a:rPr lang="en-US" dirty="0"/>
              <a:t>COMMON PROBLEMS:</a:t>
            </a:r>
          </a:p>
          <a:p>
            <a:r>
              <a:rPr lang="en-US" dirty="0"/>
              <a:t>1. map returns undefined items: braces but no return.</a:t>
            </a:r>
          </a:p>
          <a:p>
            <a:r>
              <a:rPr lang="en-US" dirty="0"/>
              <a:t>2. reduce returns text starting "[object Object]": starting value 0 missing → first product object became running total. NaN = misspelled property (e.g. p.prce) added undefined to total.</a:t>
            </a:r>
          </a:p>
          <a:p>
            <a:r>
              <a:rPr lang="en-US" dirty="0"/>
              <a:t>3. filter removes wrong items: condition inverted; filter keeps items where test is true.</a:t>
            </a:r>
          </a:p>
          <a:p>
            <a:endParaRPr lang="en-US" dirty="0"/>
          </a:p>
          <a:p>
            <a:r>
              <a:rPr lang="en-US" dirty="0"/>
              <a:t>STRETCH: Group products by category with reduce → object like { electronics: [...], books: [...] 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40 min</a:t>
            </a:r>
          </a:p>
          <a:p>
            <a:endParaRPr lang="en-US" dirty="0"/>
          </a:p>
          <a:p>
            <a:r>
              <a:rPr lang="en-US" dirty="0"/>
              <a:t>SAY: Fetch real internet data; process with Lab 2.1 array methods.</a:t>
            </a:r>
          </a:p>
          <a:p>
            <a:endParaRPr lang="en-US" dirty="0"/>
          </a:p>
          <a:p>
            <a:r>
              <a:rPr lang="en-US" dirty="0"/>
              <a:t>EXPECTED OUTPUT SHAPE:</a:t>
            </a:r>
          </a:p>
          <a:p>
            <a:r>
              <a:rPr lang="en-US" dirty="0"/>
              <a:t>1. [open] delectus aut autem</a:t>
            </a:r>
          </a:p>
          <a:p>
            <a:r>
              <a:rPr lang="en-US" dirty="0"/>
              <a:t>2. [open] quis ut nam facilis</a:t>
            </a:r>
          </a:p>
          <a:p>
            <a:r>
              <a:rPr lang="en-US" dirty="0"/>
              <a:t>...</a:t>
            </a:r>
          </a:p>
          <a:p>
            <a:r>
              <a:rPr lang="en-US" dirty="0"/>
              <a:t>Completed: 3 of 10</a:t>
            </a:r>
          </a:p>
          <a:p>
            <a:endParaRPr lang="en-US" dirty="0"/>
          </a:p>
          <a:p>
            <a:r>
              <a:rPr lang="en-US" dirty="0"/>
              <a:t>HINT for the numbered list: index = second callback argument: todos.map((t, i) =&gt; ...). i starts at 0.</a:t>
            </a:r>
          </a:p>
          <a:p>
            <a:endParaRPr lang="en-US" dirty="0"/>
          </a:p>
          <a:p>
            <a:r>
              <a:rPr lang="en-US" dirty="0"/>
              <a:t>COMMON PROBLEMS:</a:t>
            </a:r>
          </a:p>
          <a:p>
            <a:r>
              <a:rPr lang="en-US" dirty="0"/>
              <a:t>1. Promise { &lt;pending&gt; } printed: async function result logged without await. Use .then or call from another async function.</a:t>
            </a:r>
          </a:p>
          <a:p>
            <a:r>
              <a:rPr lang="en-US" dirty="0"/>
              <a:t>2. "await is only valid in async functions": await outside async function.</a:t>
            </a:r>
          </a:p>
          <a:p>
            <a:r>
              <a:rPr lang="en-US" dirty="0"/>
              <a:t>3. Network blocked: open URL in browser; if blocked, pair up or use browser console.</a:t>
            </a:r>
          </a:p>
          <a:p>
            <a:endParaRPr lang="en-US" dirty="0"/>
          </a:p>
          <a:p>
            <a:r>
              <a:rPr lang="en-US" dirty="0"/>
              <a:t>STRETCH: Accept userId; fetch https://jsonplaceholder.typicode.com/todos?userId=2 instead. Add loading message before request; time it with Date.now().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35 min</a:t>
            </a:r>
          </a:p>
          <a:p>
            <a:endParaRPr lang="en-US" dirty="0"/>
          </a:p>
          <a:p>
            <a:r>
              <a:rPr lang="en-US" dirty="0"/>
              <a:t>SAY: Project for rest of course; set up carefully.</a:t>
            </a:r>
          </a:p>
          <a:p>
            <a:endParaRPr lang="en-US" dirty="0"/>
          </a:p>
          <a:p>
            <a:r>
              <a:rPr lang="en-US" dirty="0"/>
              <a:t>SAY: Create inside react-course, not day2 folder; own Git repository → clean portfolio piece.</a:t>
            </a:r>
          </a:p>
          <a:p>
            <a:endParaRPr lang="en-US" dirty="0"/>
          </a:p>
          <a:p>
            <a:r>
              <a:rPr lang="en-US" dirty="0"/>
              <a:t>KNOWN ISSUE: Lab 1.1 ran git init in react-course on Day 1 → taskboard sits inside another repository; works but messy. Fix: move taskboard outside react-course, or add taskboard/ to react-course's .gitignore. One approach for whole room. Adding taskboard/ to react-course's .gitignore (and committing it there) keeps step 1 as written.</a:t>
            </a:r>
          </a:p>
          <a:p>
            <a:endParaRPr lang="en-US" dirty="0"/>
          </a:p>
          <a:p>
            <a:r>
              <a:rPr lang="en-US" dirty="0"/>
              <a:t>COMMON PROBLEMS:</a:t>
            </a:r>
          </a:p>
          <a:p>
            <a:r>
              <a:rPr lang="en-US" dirty="0"/>
              <a:t>1. node_modules pushed to GitHub: .gitignore deleted or git init in wrong folder. Fix: .gitignore exists and lists node_modules (recreate if deleted); git rm -r --cached node_modules; commit; push.</a:t>
            </a:r>
          </a:p>
          <a:p>
            <a:r>
              <a:rPr lang="en-US" dirty="0"/>
              <a:t>2. Blank page: check Console; usually missing export default.</a:t>
            </a:r>
          </a:p>
          <a:p>
            <a:r>
              <a:rPr lang="en-US" dirty="0"/>
              <a:t>3. Heading does not update: dev server stopped; npm run dev again.</a:t>
            </a:r>
          </a:p>
          <a:p>
            <a:endParaRPr lang="en-US" dirty="0"/>
          </a:p>
          <a:p>
            <a:r>
              <a:rPr lang="en-US" dirty="0"/>
              <a:t>STRETCH: CSS reset + system font stack in index.css. README describing TaskBoard and tech stack.</a:t>
            </a:r>
          </a:p>
          <a:p>
            <a:endParaRPr lang="en-US" dirty="0"/>
          </a:p>
          <a:p>
            <a:r>
              <a:rPr lang="en-US" dirty="0"/>
              <a:t>DO: Collect every delegate's TaskBoard repo URL.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</a:t>
            </a:r>
          </a:p>
          <a:p>
            <a:endParaRPr lang="en-US" dirty="0"/>
          </a:p>
          <a:p>
            <a:r>
              <a:rPr lang="en-US" dirty="0"/>
              <a:t>SAY: Today: modern JavaScript syntax; transforming data without changing it; talking to server; first React app.</a:t>
            </a:r>
          </a:p>
          <a:p>
            <a:endParaRPr lang="en-US" dirty="0"/>
          </a:p>
          <a:p>
            <a:r>
              <a:rPr lang="en-US" dirty="0"/>
              <a:t>SAY: Tonight: rewrite summariseTasks with filter + template literal. Add array of three task objects to App.jsx, above App function; each has id, title, done. Tomorrow: array → real list on screen.</a:t>
            </a:r>
          </a:p>
          <a:p>
            <a:endParaRPr lang="en-US" dirty="0"/>
          </a:p>
          <a:p>
            <a:r>
              <a:rPr lang="en-US" dirty="0"/>
              <a:t>SAY: Tomorrow: React Fundamentals = JSX, components, props; day React finally makes sense for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Reference only</a:t>
            </a:r>
          </a:p>
          <a:p>
            <a:endParaRPr lang="en-US" dirty="0"/>
          </a:p>
          <a:p>
            <a:r>
              <a:rPr lang="en-US" dirty="0"/>
              <a:t>SAY: react.dev docs: excellent, interactive; primary reference from tomorrow. Beware older tutorials using class components or create-react-app; outdated.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https://vite.dev/guide/" TargetMode="External"/><Relationship Id="rId3" Type="http://schemas.openxmlformats.org/officeDocument/2006/relationships/hyperlink" Target="https://developer.mozilla.org/en-US/docs/Web/JavaScript/Reference/Functions/Arrow_functions" TargetMode="External"/><Relationship Id="rId7" Type="http://schemas.openxmlformats.org/officeDocument/2006/relationships/hyperlink" Target="https://developer.mozilla.org/en-US/docs/Web/API/Fetch_API/Using_Fetch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eveloper.mozilla.org/en-US/docs/Web/JavaScript/Guide/Using_promises" TargetMode="External"/><Relationship Id="rId5" Type="http://schemas.openxmlformats.org/officeDocument/2006/relationships/hyperlink" Target="https://developer.mozilla.org/en-US/docs/Web/JavaScript/Reference/Global_Objects/Array" TargetMode="External"/><Relationship Id="rId10" Type="http://schemas.openxmlformats.org/officeDocument/2006/relationships/hyperlink" Target="https://jsonplaceholder.typicode.com/" TargetMode="External"/><Relationship Id="rId4" Type="http://schemas.openxmlformats.org/officeDocument/2006/relationships/hyperlink" Target="https://developer.mozilla.org/en-US/docs/Web/JavaScript/Reference/Operators/Destructuring" TargetMode="External"/><Relationship Id="rId9" Type="http://schemas.openxmlformats.org/officeDocument/2006/relationships/hyperlink" Target="https://react.dev/lear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822960"/>
            <a:ext cx="1828800" cy="182880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168" y="1298448"/>
            <a:ext cx="877824" cy="8778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9144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DEVELOPMENT: BEGINNER TO PROFESSIONAL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2860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JavaScript and Your First React App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38328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modern JavaScript that React relies on and create your first React project.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92440" y="365760"/>
            <a:ext cx="548640" cy="5486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5086" y="508406"/>
            <a:ext cx="263347" cy="26334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Recap: Day 1 Knowledge Check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</a:t>
            </a:r>
            <a:r>
              <a:rPr lang="en-US" sz="17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pnpm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do?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four Git steps to get code onto GitHub.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CSS layout tool handles rows and columns together?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keyword should you use by default: const or let?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wrong with: if (age == "18")?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|  Modern JavaScript and Your First React App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Agenda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931920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143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JavaScript (ES6+) syntax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143000"/>
            <a:ext cx="3931920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800600" y="1280160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8006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1143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data: array methods, immutability, modules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3931920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94360" y="2148840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9436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0116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JavaScript and fetch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2011680"/>
            <a:ext cx="3931920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800600" y="2148840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8006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20116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React: your first Vite project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880360"/>
            <a:ext cx="3931920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94360" y="3017520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5943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28803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drills, API fetch, scaffold TaskBoard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|  Modern JavaScript and Your First React App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914400" cy="9144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609344"/>
            <a:ext cx="438912" cy="4389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514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2.1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JavaScript (ES6+)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11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syntax you will read in every React file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|  Modern JavaScript and Your First React App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 Functions and Template Literals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modern.js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937760" cy="3520440"/>
          </a:xfrm>
          <a:prstGeom prst="roundRect">
            <a:avLst>
              <a:gd name="adj" fmla="val 20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1298448"/>
            <a:ext cx="466344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Classic function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add(a, b) {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 + b;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Arrow function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addArrow = (a, b) =&gt; {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 + b;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Implicit return: one expression, no braces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double = (n) =&gt; n * 2;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Template literal: backticks and ${}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name = "Lerato";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msg = `Hello ${name}, 2 x 4 = ${double(4)}`;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console.log(msg);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0" y="1188720"/>
            <a:ext cx="30175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functions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shorter and common for callbacks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braces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means the value is returned automatically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Backticks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allow ${expression} inside strings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Backtick key: top-left of most keyboards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|  Modern JavaScript and Your First React App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Destructuring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destructure.js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212080" cy="3520440"/>
          </a:xfrm>
          <a:prstGeom prst="roundRect">
            <a:avLst>
              <a:gd name="adj" fmla="val 20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1298448"/>
            <a:ext cx="493776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task = { id: 7, title: "Deploy", done: false };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Pull properties out into variables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title, done } = task;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console.log(title, done);   // Deploy false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Rename and give a default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title: label, priority = "low" } = task;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Arrays: position matters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[first, second] = ["Plan", "Build", "Ship"];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console.log(first);         // Plan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 function parameters (this is how props work)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TaskRow({ title, done }) {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`${title}: ${done ? "done" : "open"}`;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1188720"/>
            <a:ext cx="27432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Objects: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unpack by property name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Arrays: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unpack by position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fill missing values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destructuring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exactly how React components receive props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 returns an array you destructure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|  Modern JavaScript and Your First React App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 and Rest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spread.js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760720" cy="3520440"/>
          </a:xfrm>
          <a:prstGeom prst="roundRect">
            <a:avLst>
              <a:gd name="adj" fmla="val 20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1298448"/>
            <a:ext cx="548640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tags = ["react", "js"];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moreTags = [...tags, "vite"];   // copy + add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task = { id: 1, title: "Learn", done: false };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updated = { ...task, done: true }; // copy + override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console.log(task.done);     // false (original untouched)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console.log(updated.done);  // true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Rest: collect the remaining items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id, ...details } = task;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console.log(details);   // { title: 'Learn', done: false }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sum = (...nums) =&gt; nums.reduce((a, b) =&gt; a + b, 0);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console.log(sum(1, 2, 3));  // 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92240" y="1188720"/>
            <a:ext cx="21945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...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copies items into a new array or object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properties win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overrides go last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...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gathers leftovers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is how React state is updated safely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|  Modern JavaScript and Your First React App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Chaining and Nullish Coalescing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safe.js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6012180" cy="3520440"/>
          </a:xfrm>
          <a:prstGeom prst="roundRect">
            <a:avLst>
              <a:gd name="adj" fmla="val 20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1298448"/>
            <a:ext cx="573786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user = { name: "Kagiso", address: null };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Without optional chaining this crashes: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user.address.city  TypeError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console.log(user.address?.city);   // undefined, no crash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console.log(user.getAge?.());      // undefined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?? uses the fallback only for null or undefined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city = user.address?.city ?? "Unknown";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console.log(city);   // Unknown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stock = 0;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console.log(stock || 10);  // 10  (0 treated as false)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console.log(stock ?? 10);  // 0   (0 is kept)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743700" y="1188720"/>
            <a:ext cx="19431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?.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stops safely when a value is null or undefined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??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gives a fallback for null or undefined only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|| vs ??: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|| also replaces 0, empty string and false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data is often incomplete, so these are essential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|  Modern JavaScript and Your First React App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914400" cy="9144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609344"/>
            <a:ext cx="438912" cy="4389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514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2.2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 Data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11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methods, immutability and modules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|  Modern JavaScript and Your First React App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map, filter and find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arrays.js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120640" cy="3520440"/>
          </a:xfrm>
          <a:prstGeom prst="roundRect">
            <a:avLst>
              <a:gd name="adj" fmla="val 20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1298448"/>
            <a:ext cx="484632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tasks = [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id: 1, title: "Plan", done: true, points: 3 },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id: 2, title: "Build", done: false, points: 8 },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id: 3, title: "Test", done: false, points: 5 },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map: transform every item, same length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titles = tasks.map((t) =&gt; t.title);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["Plan", "Build", "Test"]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filter: keep items that pass a test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open = tasks.filter((t) =&gt; !t.done);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Build, Test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find: first match, or undefined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task = tasks.find((t) =&gt; t.id === 2);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{ id: 2, title: "Build", ... }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852160" y="1188720"/>
            <a:ext cx="2834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turns data into something else. In React: data into UI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removes items. In React: deleting and searching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gets one item. In React: selecting by id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them change the original array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|  Modern JavaScript and Your First React App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and Chaining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arrays.js (continued)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212080" cy="3520440"/>
          </a:xfrm>
          <a:prstGeom prst="roundRect">
            <a:avLst>
              <a:gd name="adj" fmla="val 20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1298448"/>
            <a:ext cx="493776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reduce: boil an array down to one value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totalPoints = tasks.reduce(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(sum, t) =&gt; sum + t.points,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 // starting value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16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Chaining: filter, then map, then join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openList = tasks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.filter((t) =&gt; !t.done)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.map((t) =&gt; `${t.title} (${t.points})`)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.join(", ");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"Build (8), Test (5)"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Day 1 homework in two lines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doneCount = tasks.filter((t) =&gt; t.done).length;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console.log(`${doneCount} of ${tasks.length} done`);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1188720"/>
            <a:ext cx="27432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carries an accumulator through the array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pass a starting value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Chaining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reads top to bottom like a recipe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useful methods: some, every, sort, includes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|  Modern JavaScript and Your First React App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Immutability: Copy, Do Not Change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3520440"/>
          </a:xfrm>
          <a:prstGeom prst="roundRect">
            <a:avLst>
              <a:gd name="adj" fmla="val 207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85800" y="1280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Mutating (avoid in React)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657600" cy="2743200"/>
          </a:xfrm>
          <a:prstGeom prst="roundRect">
            <a:avLst>
              <a:gd name="adj" fmla="val 2667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892808"/>
            <a:ext cx="338328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tasks.push(newTask);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task.done = true;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tasks.splice(index, 1);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tasks.sort(byPoints);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63440" y="1143000"/>
            <a:ext cx="4023360" cy="3520440"/>
          </a:xfrm>
          <a:prstGeom prst="roundRect">
            <a:avLst>
              <a:gd name="adj" fmla="val 2078"/>
            </a:avLst>
          </a:prstGeom>
          <a:solidFill>
            <a:srgbClr val="ECFEFF"/>
          </a:solidFill>
          <a:ln w="12700">
            <a:solidFill>
              <a:srgbClr val="ECF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892040" y="1280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(React way)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846320" y="1783080"/>
            <a:ext cx="3657600" cy="2743200"/>
          </a:xfrm>
          <a:prstGeom prst="roundRect">
            <a:avLst>
              <a:gd name="adj" fmla="val 2667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83480" y="1892808"/>
            <a:ext cx="338328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[...tasks, newTask]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...task, done: true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tasks.filter(t =&gt; t.id !== id)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[...tasks].sort(byPoints)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|  Modern JavaScript and Your First React App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Modules: Import and Export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3520440"/>
          </a:xfrm>
          <a:prstGeom prst="roundRect">
            <a:avLst>
              <a:gd name="adj" fmla="val 207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85800" y="1280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utils.js (exporting)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657600" cy="2743200"/>
          </a:xfrm>
          <a:prstGeom prst="roundRect">
            <a:avLst>
              <a:gd name="adj" fmla="val 2667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892808"/>
            <a:ext cx="338328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formatPoints = (p) =&gt;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`${p} pts`;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isOverdue(date) {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new Date(date) &lt; new Date();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Logo() {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"TaskBoard";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143000"/>
            <a:ext cx="4023360" cy="3520440"/>
          </a:xfrm>
          <a:prstGeom prst="roundRect">
            <a:avLst>
              <a:gd name="adj" fmla="val 2078"/>
            </a:avLst>
          </a:prstGeom>
          <a:solidFill>
            <a:srgbClr val="ECFEFF"/>
          </a:solidFill>
          <a:ln w="12700">
            <a:solidFill>
              <a:srgbClr val="ECF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892040" y="1280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app.js (importing)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846320" y="1783080"/>
            <a:ext cx="3657600" cy="2743200"/>
          </a:xfrm>
          <a:prstGeom prst="roundRect">
            <a:avLst>
              <a:gd name="adj" fmla="val 2667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83480" y="1892808"/>
            <a:ext cx="338328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Logo, {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formatPoints,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isOverdue,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from "./utils.js";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useState } from "react";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console.log(formatPoints(5));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|  Modern JavaScript and Your First React App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914400" cy="9144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609344"/>
            <a:ext cx="438912" cy="4389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514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2.3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Asynchronous JavaScript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11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for servers without freezing the page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|  Modern JavaScript and Your First React App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Async Matters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920240" cy="338328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does one thing at a time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926080"/>
            <a:ext cx="1554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a single thread. A slow task that blocks would freeze clicks, scrolling and animation.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0" y="1234440"/>
            <a:ext cx="1920240" cy="338328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0" y="1417320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274320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1031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work is handed off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2926080"/>
            <a:ext cx="1554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requests and timers run outside your code, in the browser or Node.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1234440"/>
            <a:ext cx="1920240" cy="338328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46320" y="1417320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84632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1031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promise is returned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926080"/>
            <a:ext cx="1554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promise is an IOU: the value is not ready yet, but it will be, or it will fail.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66560" y="1234440"/>
            <a:ext cx="1920240" cy="338328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49440" y="1417320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9494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21031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code continues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2926080"/>
            <a:ext cx="1554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result arrives, the event loop runs your follow-up code.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|  Modern JavaScript and Your First React App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Promises and async/await with fetch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fetch-demo.js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640580" cy="3520440"/>
          </a:xfrm>
          <a:prstGeom prst="roundRect">
            <a:avLst>
              <a:gd name="adj" fmla="val 20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1298448"/>
            <a:ext cx="436626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API = "https://jsonplaceholder.typicode.com";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Promise chain style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fetch(`${API}/todos?_limit=3`)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.then((res) =&gt; res.json())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.then((data) =&gt; console.log(data))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.catch((err) =&gt; console.error(err));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async/await style (preferred)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loadTodos() {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 = await fetch(`${API}/todos?_limit=3`);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data = await res.json();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data;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loadTodos().then((todos) =&gt; {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console.log(todos.map((t) =&gt; t.title));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372100" y="1188720"/>
            <a:ext cx="33147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returns a promise of a Response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res.json()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also async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marks a function that can use await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pauses that function, not the app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async function always returns a promise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|  Modern JavaScript and Your First React App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Handling Errors Properly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fetch-demo.js (continued)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394960" cy="3520440"/>
          </a:xfrm>
          <a:prstGeom prst="roundRect">
            <a:avLst>
              <a:gd name="adj" fmla="val 20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1298448"/>
            <a:ext cx="512064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getTodo(id) {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res = await fetch(`${API}/todos/${id}`);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(!res.ok) {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throw new Error(`Request failed: ${res.status}`);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todo = await res.json();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console.log(todo.title);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(err) {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console.error("Could not load:", err.message);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finally {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console.log("Done loading");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getTodo(1);     // works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getTodo(9999);  // 404 handled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188720"/>
            <a:ext cx="25603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/ catch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handles rejected promises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does not reject on 404 or 500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res.ok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throw yourself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always runs: ideal for hiding a spinner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|  Modern JavaScript and Your First React App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914400" cy="9144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609344"/>
            <a:ext cx="438912" cy="4389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514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2.4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 React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11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and understanding your first React project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|  Modern JavaScript and Your First React App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Thinking in Components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49377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component is a function</a:t>
            </a: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returns what should appear on screen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nest:</a:t>
            </a: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 contains Header, Board contains TaskList, TaskList contains TaskCard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Reusable:</a:t>
            </a: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write TaskCard once, render it for every task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Isolated:</a:t>
            </a: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each component owns its own markup, logic and styling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with a capital letter:</a:t>
            </a: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TaskCard, not taskCard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669280" y="1143000"/>
            <a:ext cx="3017520" cy="3520440"/>
          </a:xfrm>
          <a:prstGeom prst="roundRect">
            <a:avLst>
              <a:gd name="adj" fmla="val 3030"/>
            </a:avLst>
          </a:prstGeom>
          <a:solidFill>
            <a:srgbClr val="ECFEFF"/>
          </a:solidFill>
          <a:ln w="12700">
            <a:solidFill>
              <a:srgbClr val="ECF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897880" y="1371600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0526" y="151424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897880" y="2057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this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897880" y="2468880"/>
            <a:ext cx="26060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any app you use daily. Every repeated shape on screen, like a message, a product or a post, is a component rendered many times from a list of data.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|  Modern JavaScript and Your First React App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React Project with Vite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65760" cy="36576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298" y="1192378"/>
            <a:ext cx="175565" cy="17556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8680" y="1097280"/>
            <a:ext cx="365760" cy="36576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778" y="1192378"/>
            <a:ext cx="175565" cy="17556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2588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and macOS: same commands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457200" y="1572768"/>
            <a:ext cx="8229600" cy="2560320"/>
          </a:xfrm>
          <a:prstGeom prst="roundRect">
            <a:avLst>
              <a:gd name="adj" fmla="val 2857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 txBox="1"/>
          <p:nvPr/>
        </p:nvSpPr>
        <p:spPr>
          <a:xfrm>
            <a:off x="594360" y="1682496"/>
            <a:ext cx="7955280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react-course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create vite@latest taskboard -- --template react --eslint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taskboard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42245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Local URL it prints, usually http://localhost:5173. Stop the server with Ctrl+C.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|  Modern JavaScript and Your First React App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Vite Created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3520440"/>
          </a:xfrm>
          <a:prstGeom prst="roundRect">
            <a:avLst>
              <a:gd name="adj" fmla="val 20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94360" y="1298448"/>
            <a:ext cx="795528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taskboard/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node_modules/      installed packages (never edit, never commit)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public/            static files served as-is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src/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assets/          images imported by components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App.jsx          the root component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App.css          styles for App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main.jsx         entry point: mounts React into the page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index.css        global styles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index.html         the single HTML page, contains &lt;div id="root"&gt;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package.json       project name, scripts and dependencies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vite.config.js     Vite configuration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eslint.config.js   ESLint configuration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.gitignore         tells Git to skip node_modules and dist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|  Modern JavaScript and Your First React App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Entry Point: main.jsx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src/main.jsx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417820" cy="3520440"/>
          </a:xfrm>
          <a:prstGeom prst="roundRect">
            <a:avLst>
              <a:gd name="adj" fmla="val 20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1298448"/>
            <a:ext cx="514350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StrictMode } from "react";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createRoot } from "react-dom/client";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"./index.css";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App from "./App.jsx";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createRoot(document.getElementById("root")).render(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&lt;StrictMode&gt;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&lt;App /&gt;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&lt;/StrictMode&gt;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149340" y="1188720"/>
            <a:ext cx="25374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#root div in index.html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React root there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 inside it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StrictMode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adds development-only checks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rarely edit this file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|  Modern JavaScript and Your First React App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First Component: App.jsx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src/App.jsx (replace the contents)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389120" cy="3520440"/>
          </a:xfrm>
          <a:prstGeom prst="roundRect">
            <a:avLst>
              <a:gd name="adj" fmla="val 20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1298448"/>
            <a:ext cx="411480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App() {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&lt;main&gt;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&lt;h1&gt;TaskBoard&lt;/h1&gt;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&lt;p&gt;My first React app.&lt;/p&gt;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&lt;/main&gt;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App;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120640" y="1188720"/>
            <a:ext cx="35661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returns JSX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letter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name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export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 main.jsx can import it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and the browser updates instantly (HMR)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|  Modern JavaScript and Your First React App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React Renders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49377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Render:</a:t>
            </a: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React calls your component functions to find out what the UI should look like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</a:t>
            </a: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compares the new result with the previous one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Commit:</a:t>
            </a: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updates only the parts of the real page that changed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Triggers:</a:t>
            </a: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first load, and every time state changes (Day 4)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in-memory description is often called the virtual DOM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669280" y="1143000"/>
            <a:ext cx="3017520" cy="3520440"/>
          </a:xfrm>
          <a:prstGeom prst="roundRect">
            <a:avLst>
              <a:gd name="adj" fmla="val 3030"/>
            </a:avLst>
          </a:prstGeom>
          <a:solidFill>
            <a:srgbClr val="ECFEFF"/>
          </a:solidFill>
          <a:ln w="12700">
            <a:solidFill>
              <a:srgbClr val="ECF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897880" y="1371600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0526" y="151424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897880" y="2057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897880" y="2468880"/>
            <a:ext cx="26060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describe the destination. React plans the route and makes the smallest possible changes to the page.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|  Modern JavaScript and Your First React App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1" y="486461"/>
            <a:ext cx="307238" cy="3072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2.1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53035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Transformation Drills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Fluency with map, filter, find, reduce, spread and destructuring.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737360"/>
            <a:ext cx="5394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day2 create lab2-1.js with an array of 6 product objects: id, name, price, category, inStock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map to create an array of names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filter to get in-stock products under R500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find to get the product with id 4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reduce to total the price of all in-stock items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Immutably mark product 2 as out of stock using map and spread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Immutably remove product 5 using filter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everything with template literals, then commit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26480" y="173736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6309360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when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2240280"/>
            <a:ext cx="2240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 loops used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array is unchanged at the end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readable with labels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309360" y="4297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40 min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|  Modern JavaScript and Your First React App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1" y="486461"/>
            <a:ext cx="307238" cy="3072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2.2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53035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and Display Data from a Public API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real data asynchronously and handle errors.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737360"/>
            <a:ext cx="5394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lab2-2.js in day2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async function loadTodos(limit) using fetch and await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https://jsonplaceholder.typicode.com/todos?_limit=10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res.ok and throw on failure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in try / catch / finally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 numbered list of titles with a done or open marker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how many are completed using filter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error path with a wrong URL, then commit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26480" y="173736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6309360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when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2240280"/>
            <a:ext cx="2240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titles print with status markers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URL prints a friendly error, not a crash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 message always prints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309360" y="4297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40 min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|  Modern JavaScript and Your First React App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1" y="486461"/>
            <a:ext cx="307238" cy="3072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2.3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53035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 the TaskBoard Capstone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TaskBoard React project, customise it, and push it to its own GitHub repository.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737360"/>
            <a:ext cx="5394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react-course, create the taskboard project with the Vite command from earlier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taskboard, npm install, npm run dev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App.jsx with a TaskBoard heading and a short tagline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index.css and App.css to a simple starting point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page title in index.html to TaskBoard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empty GitHub repo called taskboard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init, add, commit and push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DevTools and confirm there are no console errors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26480" y="173736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6309360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when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2240280"/>
            <a:ext cx="2240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 shows your TaskBoard heading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tab says TaskBoard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is on GitHub without node_modules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309360" y="4297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35 min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|  Modern JavaScript and Your First React App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Wrap-Up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functions, template literals and destructuring appear in almost every React file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creates copies; React relies on copies, not changes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map, filter, find and reduce turn data into new data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 handles server calls; always check res.ok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creates a React project; main.jsx mounts App into #root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TaskBoard is scaffolded and on GitHub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0" y="1188720"/>
            <a:ext cx="3200400" cy="347472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715000" y="1371600"/>
            <a:ext cx="548640" cy="5486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646" y="151424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71500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Take-home practice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715000" y="2423160"/>
            <a:ext cx="2788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your Day 1 summariseTasks using filter and template literals. Then, in the TaskBoard App.jsx, create a const array of three task objects above the component. Tomorrow we will render it.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|  Modern JavaScript and Your First React App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Links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MDN: Arrow functions  </a:t>
            </a:r>
            <a:r>
              <a:rPr lang="en-US" sz="130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https://developer.mozilla.org/en-US/docs/Web/JavaScript/Reference/Functions/Arrow_functions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MDN: Destructuring  </a:t>
            </a:r>
            <a:r>
              <a:rPr lang="en-US" sz="130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https://developer.mozilla.org/en-US/docs/Web/JavaScript/Reference/Operators/Destructuring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MDN: Array methods  </a:t>
            </a:r>
            <a:r>
              <a:rPr lang="en-US" sz="130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https://developer.mozilla.org/en-US/docs/Web/JavaScript/Reference/Global_Objects/Array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MDN: Using promises  </a:t>
            </a:r>
            <a:r>
              <a:rPr lang="en-US" sz="130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https://developer.mozilla.org/en-US/docs/Web/JavaScript/Guide/Using_promises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MDN: Using fetch  </a:t>
            </a:r>
            <a:r>
              <a:rPr lang="en-US" sz="130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https://developer.mozilla.org/en-US/docs/Web/API/Fetch_API/Using_Fetch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Vite: Getting started  </a:t>
            </a:r>
            <a:r>
              <a:rPr lang="en-US" sz="130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https://vite.dev/guide/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React: Quick start  </a:t>
            </a:r>
            <a:r>
              <a:rPr lang="en-US" sz="130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https://react.dev/learn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JSONPlaceholder  </a:t>
            </a:r>
            <a:r>
              <a:rPr lang="en-US" sz="130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https://jsonplaceholder.typicode.com/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|  Modern JavaScript and Your First React App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8778</Words>
  <Application>Microsoft Macintosh PowerPoint</Application>
  <PresentationFormat>On-screen Show (16:9)</PresentationFormat>
  <Paragraphs>519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 Development Day 2: Modern JavaScript and Your First React App</dc:title>
  <dc:subject>PptxGenJS Presentation</dc:subject>
  <dc:creator>PptxGenJS</dc:creator>
  <cp:lastModifiedBy>THYNK  PAY</cp:lastModifiedBy>
  <cp:revision>2</cp:revision>
  <dcterms:created xsi:type="dcterms:W3CDTF">2026-09-15T13:24:53Z</dcterms:created>
  <dcterms:modified xsi:type="dcterms:W3CDTF">2026-09-17T11:07:46Z</dcterms:modified>
</cp:coreProperties>
</file>