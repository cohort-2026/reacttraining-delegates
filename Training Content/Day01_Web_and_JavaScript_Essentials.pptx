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2893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15 min (08:30 to 08:45)</a:t>
            </a:r>
          </a:p>
          <a:p>
            <a:endParaRPr lang="en-US" dirty="0"/>
          </a:p>
          <a:p>
            <a:r>
              <a:rPr lang="en-US" dirty="0"/>
              <a:t>SAY: Welcome; I am [your name], facilitator for ten days. Course assumes no coding experience.</a:t>
            </a:r>
          </a:p>
          <a:p>
            <a:endParaRPr lang="en-US" dirty="0"/>
          </a:p>
          <a:p>
            <a:r>
              <a:rPr lang="en-US" dirty="0"/>
              <a:t>DO: Housekeeping: times, breaks, lunch, bathrooms, fire exits, Wi-Fi password, phones on silent.</a:t>
            </a:r>
          </a:p>
          <a:p>
            <a:endParaRPr lang="en-US" dirty="0"/>
          </a:p>
          <a:p>
            <a:r>
              <a:rPr lang="en-US" dirty="0"/>
              <a:t>DO: Introductions: name, what they do today, one thing they want to build by end of course. "Want to build" answers → whiteboard, up all week; refer back Day 10.</a:t>
            </a:r>
          </a:p>
          <a:p>
            <a:endParaRPr lang="en-US" dirty="0"/>
          </a:p>
          <a:p>
            <a:r>
              <a:rPr lang="en-US" dirty="0"/>
              <a:t>SAY: By end of today: working developer setup, GitHub account with first repository, own web page, first JavaScript programs running.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 min</a:t>
            </a:r>
          </a:p>
          <a:p>
            <a:endParaRPr lang="en-US" dirty="0"/>
          </a:p>
          <a:p>
            <a:r>
              <a:rPr lang="en-US" dirty="0"/>
              <a:t>SAY: Plan: how website gets from server to screen; install professional tools; HTML and CSS refresher (React produces HTML and CSS in the end); afternoon = JavaScript, language React is written in.</a:t>
            </a:r>
          </a:p>
          <a:p>
            <a:endParaRPr lang="en-US" dirty="0"/>
          </a:p>
          <a:p>
            <a:r>
              <a:rPr lang="en-US" dirty="0"/>
              <a:t>SAY: Foundation day; little "React" yet = deliberate. Most React confusion = JavaScript confusion.</a:t>
            </a:r>
          </a:p>
          <a:p>
            <a:endParaRPr lang="en-US" dirty="0"/>
          </a:p>
          <a:p>
            <a:r>
              <a:rPr lang="en-US" dirty="0"/>
              <a:t>DO: Point out labs spread through day, not all at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</a:t>
            </a:r>
          </a:p>
          <a:p>
            <a:endParaRPr lang="en-US" dirty="0"/>
          </a:p>
          <a:p>
            <a:r>
              <a:rPr lang="en-US" dirty="0"/>
              <a:t>SAY: Format: short explanation, live demo, you do it. More typing than listening.</a:t>
            </a:r>
          </a:p>
          <a:p>
            <a:endParaRPr lang="en-US" dirty="0"/>
          </a:p>
          <a:p>
            <a:r>
              <a:rPr lang="en-US" dirty="0"/>
              <a:t>SAY: One app all week: TaskBoard, task manager like simplified Trello. Day 3 = static list. Day 10 = login, real database, automated tests, live with public URL to share with employer.</a:t>
            </a:r>
          </a:p>
          <a:p>
            <a:endParaRPr lang="en-US" dirty="0"/>
          </a:p>
          <a:p>
            <a:r>
              <a:rPr lang="en-US" dirty="0"/>
              <a:t>SAY: Every morning: five quick questions on previous day. Not a test, not marked; shows what needs revisiting.</a:t>
            </a:r>
          </a:p>
          <a:p>
            <a:endParaRPr lang="en-US" dirty="0"/>
          </a:p>
          <a:p>
            <a:r>
              <a:rPr lang="en-US" dirty="0"/>
              <a:t>SAY: Golden rule: type the code. Typing builds memory; fixing typos → learn to read error messages.</a:t>
            </a:r>
          </a:p>
          <a:p>
            <a:endParaRPr lang="en-US" dirty="0"/>
          </a:p>
          <a:p>
            <a:r>
              <a:rPr lang="en-US" dirty="0"/>
              <a:t>ASK: Anyone already using code editor or written code before? (Note experienced delegates; pair with beginners in labs.)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 min</a:t>
            </a:r>
          </a:p>
          <a:p>
            <a:endParaRPr lang="en-US" dirty="0"/>
          </a:p>
          <a:p>
            <a:r>
              <a:rPr lang="en-US" dirty="0"/>
              <a:t>SAY: Road map: five stages.</a:t>
            </a:r>
          </a:p>
          <a:p>
            <a:endParaRPr lang="en-US" dirty="0"/>
          </a:p>
          <a:p>
            <a:r>
              <a:rPr lang="en-US" dirty="0"/>
              <a:t>SAY: Stage one, Days 1 and 2: foundations. Stage two, Days 3 to 5: core of React. Stage three, Days 6 to 8: TypeScript, routing, state management libraries, Tailwind CSS, form libraries. Stage four, Day 9: front-end → full-stack; real database, user accounts. Stage five, Day 10: quality and shipping: fast, tested, deployed.</a:t>
            </a:r>
          </a:p>
          <a:p>
            <a:endParaRPr lang="en-US" dirty="0"/>
          </a:p>
          <a:p>
            <a:r>
              <a:rPr lang="en-US" dirty="0"/>
              <a:t>SAY: Fast pace → take-home practice matters. Lost? Tell me at a break; normal, fixable.</a:t>
            </a:r>
          </a:p>
          <a:p>
            <a:endParaRPr lang="en-US" dirty="0"/>
          </a:p>
          <a:p>
            <a:r>
              <a:rPr lang="en-US" dirty="0"/>
              <a:t>IF ASKED "Will we be job ready after ten days?": Be honest. Solid foundation + real portfolio project. Job readiness = several more own projects after course; plan given Day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 min</a:t>
            </a:r>
          </a:p>
          <a:p>
            <a:endParaRPr lang="en-US" dirty="0"/>
          </a:p>
          <a:p>
            <a:r>
              <a:rPr lang="en-US" dirty="0"/>
              <a:t>SAY: Before code: mental picture of what happens when you open a website. Rest of week hangs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</a:t>
            </a:r>
          </a:p>
          <a:p>
            <a:endParaRPr lang="en-US" dirty="0"/>
          </a:p>
          <a:p>
            <a:r>
              <a:rPr lang="en-US" dirty="0"/>
              <a:t>SAY: Three browser languages. HTML = structure (heading, paragraph, button). CSS = look. JavaScript = behaviour.</a:t>
            </a:r>
          </a:p>
          <a:p>
            <a:endParaRPr lang="en-US" dirty="0"/>
          </a:p>
          <a:p>
            <a:r>
              <a:rPr lang="en-US" dirty="0"/>
              <a:t>SAY: House analogy: HTML = walls and rooms; CSS = paint and furniture; JavaScript = electricity (flick switch → something happens).</a:t>
            </a:r>
          </a:p>
          <a:p>
            <a:endParaRPr lang="en-US" dirty="0"/>
          </a:p>
          <a:p>
            <a:r>
              <a:rPr lang="en-US" dirty="0"/>
              <a:t>SAY: React = JavaScript library; JavaScript that generates HTML and applies CSS. Browser never sees "React"; only HTML, CSS, JavaScript.</a:t>
            </a:r>
          </a:p>
          <a:p>
            <a:endParaRPr lang="en-US" dirty="0"/>
          </a:p>
          <a:p>
            <a:r>
              <a:rPr lang="en-US" dirty="0"/>
              <a:t>DO: Any website: right-click → "View page source" (raw HTML); DevTools (F12 Windows, Cmd+Option+I macOS) → Elements and Styles panels.</a:t>
            </a:r>
          </a:p>
          <a:p>
            <a:endParaRPr lang="en-US" dirty="0"/>
          </a:p>
          <a:p>
            <a:r>
              <a:rPr lang="en-US" dirty="0"/>
              <a:t>ASK: Which to make a button red? (CSS.) Which so clicking a button shows a message? (JavaScript.)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 min</a:t>
            </a:r>
          </a:p>
          <a:p>
            <a:endParaRPr lang="en-US" dirty="0"/>
          </a:p>
          <a:p>
            <a:r>
              <a:rPr lang="en-US" dirty="0"/>
              <a:t>SAY: Four steps. Type URL. DNS: name like google.com → numeric IP address. Browser sends HTTP request. Server response = status code + HTML. Browser downloads CSS and JavaScript HTML points to, draws page, runs JavaScript.</a:t>
            </a:r>
          </a:p>
          <a:p>
            <a:endParaRPr lang="en-US" dirty="0"/>
          </a:p>
          <a:p>
            <a:r>
              <a:rPr lang="en-US" dirty="0"/>
              <a:t>SAY: Client = browser, on user's device. Server = computer answering requests. React mostly runs on client; Day 9 also on server.</a:t>
            </a:r>
          </a:p>
          <a:p>
            <a:endParaRPr lang="en-US" dirty="0"/>
          </a:p>
          <a:p>
            <a:r>
              <a:rPr lang="en-US" dirty="0"/>
              <a:t>SAY: Status codes: 200 = OK; 404 = not found; 401 = not logged in; 500 = server error.</a:t>
            </a:r>
          </a:p>
          <a:p>
            <a:endParaRPr lang="en-US" dirty="0"/>
          </a:p>
          <a:p>
            <a:r>
              <a:rPr lang="en-US" dirty="0"/>
              <a:t>DO: DevTools → Network tab; refresh; click first request. Show status code, request headers, response.</a:t>
            </a:r>
          </a:p>
          <a:p>
            <a:endParaRPr lang="en-US" dirty="0"/>
          </a:p>
          <a:p>
            <a:r>
              <a:rPr lang="en-US" dirty="0"/>
              <a:t>IF ASKED about HTTPS: HTTP with encryption; nobody in between can read or change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 min</a:t>
            </a:r>
          </a:p>
          <a:p>
            <a:endParaRPr lang="en-US" dirty="0"/>
          </a:p>
          <a:p>
            <a:r>
              <a:rPr lang="en-US" dirty="0"/>
              <a:t>SAY: React = JavaScript library for building user interfaces. Built by Facebook: pages too complex to update by hand (notification badge, chat window, news feed in sync).</a:t>
            </a:r>
          </a:p>
          <a:p>
            <a:endParaRPr lang="en-US" dirty="0"/>
          </a:p>
          <a:p>
            <a:r>
              <a:rPr lang="en-US" dirty="0"/>
              <a:t>SAY: Idea 1: components. Small pieces (Button, TaskCard, Navbar) combined, not one giant page.</a:t>
            </a:r>
          </a:p>
          <a:p>
            <a:endParaRPr lang="en-US" dirty="0"/>
          </a:p>
          <a:p>
            <a:r>
              <a:rPr lang="en-US" dirty="0"/>
              <a:t>SAY: Idea 2: declarative code. Plain JavaScript = imperative: "find this element, change its text, then add a class, then remove that other element". React: "when the task list has three items, the screen looks like this"; React works out what to change.</a:t>
            </a:r>
          </a:p>
          <a:p>
            <a:endParaRPr lang="en-US" dirty="0"/>
          </a:p>
          <a:p>
            <a:r>
              <a:rPr lang="en-US" dirty="0"/>
              <a:t>SAY: Analogy: imperative = give taxi driver every turn; declarative = give destination.</a:t>
            </a:r>
          </a:p>
          <a:p>
            <a:endParaRPr lang="en-US" dirty="0"/>
          </a:p>
          <a:p>
            <a:r>
              <a:rPr lang="en-US" dirty="0"/>
              <a:t>SAY: React 19 = current major version. Online tutorials may show older styles, e.g. class components; differences flagged when they matter.</a:t>
            </a:r>
          </a:p>
          <a:p>
            <a:endParaRPr lang="en-US" dirty="0"/>
          </a:p>
          <a:p>
            <a:r>
              <a:rPr lang="en-US" dirty="0"/>
              <a:t>IF ASKED "React or Angular or Vue?": All good. React = largest job market and ecosystem.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 min</a:t>
            </a:r>
          </a:p>
          <a:p>
            <a:endParaRPr lang="en-US" dirty="0"/>
          </a:p>
          <a:p>
            <a:r>
              <a:rPr lang="en-US" dirty="0"/>
              <a:t>SAY: Set up machine like a professional developer. Done once for whole course.</a:t>
            </a:r>
          </a:p>
          <a:p>
            <a:endParaRPr lang="en-US" dirty="0"/>
          </a:p>
          <a:p>
            <a:r>
              <a:rPr lang="en-US" dirty="0"/>
              <a:t>DO: Confirm every delegate has administrator rights. If not, escalate to venue IT contact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min, then install during Lab 1.1</a:t>
            </a:r>
          </a:p>
          <a:p>
            <a:endParaRPr lang="en-US" dirty="0"/>
          </a:p>
          <a:p>
            <a:r>
              <a:rPr lang="en-US" dirty="0"/>
              <a:t>SAY: Four tools. Node.js = runs JavaScript outside browser; every React project uses it for development server and final build. Includes npm (Node Package Manager) = downloads libraries. React = npm package.</a:t>
            </a:r>
          </a:p>
          <a:p>
            <a:endParaRPr lang="en-US" dirty="0"/>
          </a:p>
          <a:p>
            <a:r>
              <a:rPr lang="en-US" dirty="0"/>
              <a:t>SAY: Always LTS version of Node. LTS = Long Term Support = stable.</a:t>
            </a:r>
          </a:p>
          <a:p>
            <a:endParaRPr lang="en-US" dirty="0"/>
          </a:p>
          <a:p>
            <a:r>
              <a:rPr lang="en-US" dirty="0"/>
              <a:t>SAY: VS Code = editor. Git = version control: unlimited, labelled save points. GitHub = website storing Git projects online; where employers look.</a:t>
            </a:r>
          </a:p>
          <a:p>
            <a:endParaRPr lang="en-US" dirty="0"/>
          </a:p>
          <a:p>
            <a:r>
              <a:rPr lang="en-US" dirty="0"/>
              <a:t>DO: Show nodejs.org, code.visualstudio.com, git-scm.com. macOS: Git often already installed with Xcode command line tools; git --version offers install if missing.</a:t>
            </a:r>
          </a:p>
          <a:p>
            <a:endParaRPr lang="en-US" dirty="0"/>
          </a:p>
          <a:p>
            <a:r>
              <a:rPr lang="en-US" dirty="0"/>
              <a:t>SAY: Install in Lab 1.1. First: how to check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</a:t>
            </a:r>
          </a:p>
          <a:p>
            <a:endParaRPr lang="en-US" dirty="0"/>
          </a:p>
          <a:p>
            <a:r>
              <a:rPr lang="en-US" dirty="0"/>
              <a:t>SAY: Prove each tool works from terminal: one command per line, Enter → version number.</a:t>
            </a:r>
          </a:p>
          <a:p>
            <a:endParaRPr lang="en-US" dirty="0"/>
          </a:p>
          <a:p>
            <a:r>
              <a:rPr lang="en-US" dirty="0"/>
              <a:t>DO: Demo. Windows: PowerShell from Start menu. macOS: Terminal from Spotlight (Cmd+Space).</a:t>
            </a:r>
          </a:p>
          <a:p>
            <a:endParaRPr lang="en-US" dirty="0"/>
          </a:p>
          <a:p>
            <a:r>
              <a:rPr lang="en-US" dirty="0"/>
              <a:t>KNOWN ISSUE (Windows): "npm : File ... cannot be loaded because running scripts is disabled on this system." Run once in PowerShell:</a:t>
            </a:r>
          </a:p>
          <a:p>
            <a:r>
              <a:rPr lang="en-US" dirty="0"/>
              <a:t>Set-ExecutionPolicy -Scope CurrentUser RemoteSigned</a:t>
            </a:r>
          </a:p>
          <a:p>
            <a:r>
              <a:rPr lang="en-US" dirty="0"/>
              <a:t>Answer Y; retry npm -v.</a:t>
            </a:r>
          </a:p>
          <a:p>
            <a:endParaRPr lang="en-US" dirty="0"/>
          </a:p>
          <a:p>
            <a:r>
              <a:rPr lang="en-US" dirty="0"/>
              <a:t>KNOWN ISSUE (both): "command not found" or "not recognized" straight after install = terminal opened before install finished. Close every terminal window; open new one.</a:t>
            </a:r>
          </a:p>
          <a:p>
            <a:endParaRPr lang="en-US" dirty="0"/>
          </a:p>
          <a:p>
            <a:r>
              <a:rPr lang="en-US" dirty="0"/>
              <a:t>KNOWN ISSUE (macOS): "code: command not found". VS Code: Cmd+Shift+P, type "shell command", choose "Install 'code' command in PATH".</a:t>
            </a:r>
          </a:p>
          <a:p>
            <a:endParaRPr lang="en-US" dirty="0"/>
          </a:p>
          <a:p>
            <a:r>
              <a:rPr lang="en-US" dirty="0"/>
              <a:t>SAY: Version numbers may differ slightly; each command must print a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7 min</a:t>
            </a:r>
          </a:p>
          <a:p>
            <a:endParaRPr lang="en-US" dirty="0"/>
          </a:p>
          <a:p>
            <a:r>
              <a:rPr lang="en-US" dirty="0"/>
              <a:t>SAY: Only six commands needed this week.</a:t>
            </a:r>
          </a:p>
          <a:p>
            <a:endParaRPr lang="en-US" dirty="0"/>
          </a:p>
          <a:p>
            <a:r>
              <a:rPr lang="en-US" dirty="0"/>
              <a:t>SAY: Get-Location (Windows) or pwd (macOS) = current folder. ls = list contents. mkdir = new folder. cd = change directory; cd react-course = move in; cd .. = up one level. code . = open current folder in VS Code; dot = "this folder".</a:t>
            </a:r>
          </a:p>
          <a:p>
            <a:endParaRPr lang="en-US" dirty="0"/>
          </a:p>
          <a:p>
            <a:r>
              <a:rPr lang="en-US" dirty="0"/>
              <a:t>DO: Demo each slowly. Room creates folder react-course in Documents, opens in VS Code.</a:t>
            </a:r>
          </a:p>
          <a:p>
            <a:endParaRPr lang="en-US" dirty="0"/>
          </a:p>
          <a:p>
            <a:r>
              <a:rPr lang="en-US" dirty="0"/>
              <a:t>TIP: Tab = autocomplete folder names. Up arrow = repeat previous command.</a:t>
            </a:r>
          </a:p>
          <a:p>
            <a:endParaRPr lang="en-US" dirty="0"/>
          </a:p>
          <a:p>
            <a:r>
              <a:rPr lang="en-US" dirty="0"/>
              <a:t>TIP: VS Code built-in terminal: Ctrl+backtick on Windows and macOS (Ctrl, not Cmd, on Mac). Used for rest of course.</a:t>
            </a:r>
          </a:p>
          <a:p>
            <a:endParaRPr lang="en-US" dirty="0"/>
          </a:p>
          <a:p>
            <a:r>
              <a:rPr lang="en-US" dirty="0"/>
              <a:t>IF ASKED "Can I use Command Prompt instead of PowerShell?": Yes, most commands same; stick to PowerShell to match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 min</a:t>
            </a:r>
          </a:p>
          <a:p>
            <a:endParaRPr lang="en-US" dirty="0"/>
          </a:p>
          <a:p>
            <a:r>
              <a:rPr lang="en-US" dirty="0"/>
              <a:t>SAY: Three extensions. Extensions icon on left (four squares); search each.</a:t>
            </a:r>
          </a:p>
          <a:p>
            <a:endParaRPr lang="en-US" dirty="0"/>
          </a:p>
          <a:p>
            <a:r>
              <a:rPr lang="en-US" dirty="0"/>
              <a:t>DO: Install Prettier (publisher: Prettier), ESLint (publisher: Microsoft), Auto Rename Tag.</a:t>
            </a:r>
          </a:p>
          <a:p>
            <a:endParaRPr lang="en-US" dirty="0"/>
          </a:p>
          <a:p>
            <a:r>
              <a:rPr lang="en-US" dirty="0"/>
              <a:t>DO: Settings: Ctrl+comma (Windows) or Cmd+comma (macOS). Search "format on save"; tick. Search "default formatter"; choose Prettier - Code formatter.</a:t>
            </a:r>
          </a:p>
          <a:p>
            <a:endParaRPr lang="en-US" dirty="0"/>
          </a:p>
          <a:p>
            <a:r>
              <a:rPr lang="en-US" dirty="0"/>
              <a:t>SAY: Save → code tidied. Messy indentation hides bugs, especially in nested React.</a:t>
            </a:r>
          </a:p>
          <a:p>
            <a:endParaRPr lang="en-US" dirty="0"/>
          </a:p>
          <a:p>
            <a:r>
              <a:rPr lang="en-US" dirty="0"/>
              <a:t>DO: Demo: badly indented HTML; Ctrl+S or Cmd+S → snaps into shape.</a:t>
            </a:r>
          </a:p>
          <a:p>
            <a:endParaRPr lang="en-US" dirty="0"/>
          </a:p>
          <a:p>
            <a:r>
              <a:rPr lang="en-US" dirty="0"/>
              <a:t>SAY: Shortcuts: Ctrl+P or Cmd+P = jump to file by name. Ctrl+Shift+P or Cmd+Shift+P = command palette. Alt+Up or Option+Up = move line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 min</a:t>
            </a:r>
          </a:p>
          <a:p>
            <a:endParaRPr lang="en-US" dirty="0"/>
          </a:p>
          <a:p>
            <a:r>
              <a:rPr lang="en-US" dirty="0"/>
              <a:t>SAY: Git = camera for code. Initialise = "start watching this folder". Staging = choose changes for photo. Committing = take photo with caption. Pushing = upload photos to cloud (GitHub).</a:t>
            </a:r>
          </a:p>
          <a:p>
            <a:endParaRPr lang="en-US" dirty="0"/>
          </a:p>
          <a:p>
            <a:r>
              <a:rPr lang="en-US" dirty="0"/>
              <a:t>SAY: Commit message = what changed, plain English, e.g. "Add profile page layout". Not "stuff" or "fix". Future you and employers read them.</a:t>
            </a:r>
          </a:p>
          <a:p>
            <a:endParaRPr lang="en-US" dirty="0"/>
          </a:p>
          <a:p>
            <a:r>
              <a:rPr lang="en-US" dirty="0"/>
              <a:t>SAY: Commit many times a day: something works → commit. Break something later → can get back.</a:t>
            </a:r>
          </a:p>
          <a:p>
            <a:endParaRPr lang="en-US" dirty="0"/>
          </a:p>
          <a:p>
            <a:r>
              <a:rPr lang="en-US" dirty="0"/>
              <a:t>ASK: Why snapshots rather than single saved file? (Go back, compare changes, experiment safely.)</a:t>
            </a:r>
          </a:p>
          <a:p>
            <a:endParaRPr lang="en-US" dirty="0"/>
          </a:p>
          <a:p>
            <a:r>
              <a:rPr lang="en-US" dirty="0"/>
              <a:t>IF ASKED about branches: Parallel line of snapshots; try something without affecting main version. Used Day 10 with pull requests.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8 min (demo), practice in Lab 1.1</a:t>
            </a:r>
          </a:p>
          <a:p>
            <a:endParaRPr lang="en-US" dirty="0"/>
          </a:p>
          <a:p>
            <a:r>
              <a:rPr lang="en-US" dirty="0"/>
              <a:t>SAY: First two lines = tell Git who you are. Same email as GitHub account. Once per computer.</a:t>
            </a:r>
          </a:p>
          <a:p>
            <a:endParaRPr lang="en-US" dirty="0"/>
          </a:p>
          <a:p>
            <a:r>
              <a:rPr lang="en-US" dirty="0"/>
              <a:t>SAY: In project folder: git init, git add dot, git commit with message. Next three lines connect to GitHub and upload: git branch -M main = name main branch "main"; git remote add origin = where GitHub lives; git push -u origin main = upload.</a:t>
            </a:r>
          </a:p>
          <a:p>
            <a:endParaRPr lang="en-US" dirty="0"/>
          </a:p>
          <a:p>
            <a:r>
              <a:rPr lang="en-US" dirty="0"/>
              <a:t>DO: Demo live. GitHub: New repository, name react-course, leave empty (no README), Create. Copy HTTPS URL. Run commands.</a:t>
            </a:r>
          </a:p>
          <a:p>
            <a:endParaRPr lang="en-US" dirty="0"/>
          </a:p>
          <a:p>
            <a:r>
              <a:rPr lang="en-US" dirty="0"/>
              <a:t>KNOWN ISSUE (Windows): First push opens browser sign-in to GitHub = Git Credential Manager (bundled with Git for Windows); expected. Sign in, approve. KNOWN ISSUE (macOS): Apple's Git lacks Git Credential Manager → terminal asks username and password; GitHub rejects account passwords. Easiest fix: install Git Credential Manager (brew install --cask git-credential-manager) or GitHub CLI + gh auth login; push again. Personal access token pasted as password also works.</a:t>
            </a:r>
          </a:p>
          <a:p>
            <a:endParaRPr lang="en-US" dirty="0"/>
          </a:p>
          <a:p>
            <a:r>
              <a:rPr lang="en-US" dirty="0"/>
              <a:t>KNOWN ISSUE: "error: src refspec main does not match any". No commit yet, usually empty folder. Create file; add and commit again.</a:t>
            </a:r>
          </a:p>
          <a:p>
            <a:endParaRPr lang="en-US" dirty="0"/>
          </a:p>
          <a:p>
            <a:r>
              <a:rPr lang="en-US" dirty="0"/>
              <a:t>KNOWN ISSUE: "remote origin already exists". git remote remove origin; add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 min</a:t>
            </a:r>
          </a:p>
          <a:p>
            <a:endParaRPr lang="en-US" dirty="0"/>
          </a:p>
          <a:p>
            <a:r>
              <a:rPr lang="en-US" dirty="0"/>
              <a:t>SAY: React outputs HTML styled with CSS → need both. Refresher only; focus on patterns in every React component.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7 min</a:t>
            </a:r>
          </a:p>
          <a:p>
            <a:endParaRPr lang="en-US" dirty="0"/>
          </a:p>
          <a:p>
            <a:r>
              <a:rPr lang="en-US" dirty="0"/>
              <a:t>SAY: Complete HTML page. Same shell every page: doctype; html element; head = information about page; body = what users see.</a:t>
            </a:r>
          </a:p>
          <a:p>
            <a:endParaRPr lang="en-US" dirty="0"/>
          </a:p>
          <a:p>
            <a:r>
              <a:rPr lang="en-US" dirty="0"/>
              <a:t>SAY: Element = opening tag, content, closing tag. Attributes = inside opening tag, configure element; e.g. href on link element → our CSS file.</a:t>
            </a:r>
          </a:p>
          <a:p>
            <a:endParaRPr lang="en-US" dirty="0"/>
          </a:p>
          <a:p>
            <a:r>
              <a:rPr lang="en-US" dirty="0"/>
              <a:t>SAY: header, main, section, footer, not pile of div elements. Semantic tags = describe what content means. Used by screen readers (blind users navigate) and search engines. Accessibility properly Day 8.</a:t>
            </a:r>
          </a:p>
          <a:p>
            <a:endParaRPr lang="en-US" dirty="0"/>
          </a:p>
          <a:p>
            <a:r>
              <a:rPr lang="en-US" dirty="0"/>
              <a:t>DO: VS Code: create index.html; type exclamation mark + Tab → Emmet skeleton. Fill body as shown. Open in browser: double-click in File Explorer or Finder.</a:t>
            </a:r>
          </a:p>
          <a:p>
            <a:endParaRPr lang="en-US" dirty="0"/>
          </a:p>
          <a:p>
            <a:r>
              <a:rPr lang="en-US" dirty="0"/>
              <a:t>ASK: Which tag for main navigation links? (nav.)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8 min</a:t>
            </a:r>
          </a:p>
          <a:p>
            <a:endParaRPr lang="en-US" dirty="0"/>
          </a:p>
          <a:p>
            <a:r>
              <a:rPr lang="en-US" dirty="0"/>
              <a:t>SAY: CSS = selector + property: value pairs. Dot = "class"; .nav targets every element with class="nav".</a:t>
            </a:r>
          </a:p>
          <a:p>
            <a:endParaRPr lang="en-US" dirty="0"/>
          </a:p>
          <a:p>
            <a:r>
              <a:rPr lang="en-US" dirty="0"/>
              <a:t>SAY: Flexbox = one direction, row or column. justify-content = spacing along it; align-items = alignment across it; gap = space between items. For navbars, button rows, centring.</a:t>
            </a:r>
          </a:p>
          <a:p>
            <a:endParaRPr lang="en-US" dirty="0"/>
          </a:p>
          <a:p>
            <a:r>
              <a:rPr lang="en-US" dirty="0"/>
              <a:t>SAY: Grid = two dimensions. repeat(3, 1fr) = three equal-width columns. fr = "fraction of the available space". For card layouts, dashboards.</a:t>
            </a:r>
          </a:p>
          <a:p>
            <a:endParaRPr lang="en-US" dirty="0"/>
          </a:p>
          <a:p>
            <a:r>
              <a:rPr lang="en-US" dirty="0"/>
              <a:t>SAY: Every element = box: content, padding inside border, border, margin outside. Spacing wrong → almost always box model.</a:t>
            </a:r>
          </a:p>
          <a:p>
            <a:endParaRPr lang="en-US" dirty="0"/>
          </a:p>
          <a:p>
            <a:r>
              <a:rPr lang="en-US" dirty="0"/>
              <a:t>DO: DevTools: select element; box model diagram in Computed tab. Toggle display: flex on container live.</a:t>
            </a:r>
          </a:p>
          <a:p>
            <a:endParaRPr lang="en-US" dirty="0"/>
          </a:p>
          <a:p>
            <a:r>
              <a:rPr lang="en-US" dirty="0"/>
              <a:t>TIP: flexboxfroggy.com and cssgridgarden.com = practice games for take-home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 min</a:t>
            </a:r>
          </a:p>
          <a:p>
            <a:endParaRPr lang="en-US" dirty="0"/>
          </a:p>
          <a:p>
            <a:r>
              <a:rPr lang="en-US" dirty="0"/>
              <a:t>SAY: Most important module today. All React from Day 3 = JavaScript. Run code with Node.js in terminal; no browser setup.</a:t>
            </a:r>
          </a:p>
          <a:p>
            <a:endParaRPr lang="en-US" dirty="0"/>
          </a:p>
          <a:p>
            <a:r>
              <a:rPr lang="en-US" dirty="0"/>
              <a:t>DO: Delegates create folder js-basics inside react-course; open in VS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8 min</a:t>
            </a:r>
          </a:p>
          <a:p>
            <a:endParaRPr lang="en-US" dirty="0"/>
          </a:p>
          <a:p>
            <a:r>
              <a:rPr lang="en-US" dirty="0"/>
              <a:t>SAY: Variable = labelled box holding a value; created with const or let.</a:t>
            </a:r>
          </a:p>
          <a:p>
            <a:endParaRPr lang="en-US" dirty="0"/>
          </a:p>
          <a:p>
            <a:r>
              <a:rPr lang="en-US" dirty="0"/>
              <a:t>SAY: const = label always points at same value. let = new value allowed later. Rule: const everywhere; let only when reassigning. Avoid var (older code; confusing scoping rules).</a:t>
            </a:r>
          </a:p>
          <a:p>
            <a:endParaRPr lang="en-US" dirty="0"/>
          </a:p>
          <a:p>
            <a:r>
              <a:rPr lang="en-US" dirty="0"/>
              <a:t>SAY: Types: string = text in quotes; number = whole or decimal; boolean = true or false; undefined = "no value has been given yet"; null = "deliberately empty".</a:t>
            </a:r>
          </a:p>
          <a:p>
            <a:endParaRPr lang="en-US" dirty="0"/>
          </a:p>
          <a:p>
            <a:r>
              <a:rPr lang="en-US" dirty="0"/>
              <a:t>SAY: console.log = print to terminal; shows what code is doing. typeof = type of a value.</a:t>
            </a:r>
          </a:p>
          <a:p>
            <a:endParaRPr lang="en-US" dirty="0"/>
          </a:p>
          <a:p>
            <a:r>
              <a:rPr lang="en-US" dirty="0"/>
              <a:t>DO: Create basics.js; type code; run node basics.js in VS Code terminal. Uncomment days = 11 line; run → TypeError. Read error aloud: file, line, problem.</a:t>
            </a:r>
          </a:p>
          <a:p>
            <a:endParaRPr lang="en-US" dirty="0"/>
          </a:p>
          <a:p>
            <a:r>
              <a:rPr lang="en-US" dirty="0"/>
              <a:t>ASK: Shopping cart total: const or let? (let, because it changes. In React handled differently, with state.)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8 min</a:t>
            </a:r>
          </a:p>
          <a:p>
            <a:endParaRPr lang="en-US" dirty="0"/>
          </a:p>
          <a:p>
            <a:r>
              <a:rPr lang="en-US" dirty="0"/>
              <a:t>SAY: if statements: condition in round brackets; code in curly braces. Checked top to bottom; first true one runs.</a:t>
            </a:r>
          </a:p>
          <a:p>
            <a:endParaRPr lang="en-US" dirty="0"/>
          </a:p>
          <a:p>
            <a:r>
              <a:rPr lang="en-US" dirty="0"/>
              <a:t>SAY: Ternary operator = compact if/else: condition, question mark, value if true, colon, value if false. Used constantly in React to decide what to show.</a:t>
            </a:r>
          </a:p>
          <a:p>
            <a:endParaRPr lang="en-US" dirty="0"/>
          </a:p>
          <a:p>
            <a:r>
              <a:rPr lang="en-US" dirty="0"/>
              <a:t>SAY: for loop, three parts: starting value; condition to keep going; what to do after each round. i++ = add one to i. Tomorrow: array methods replace most for loops in React code.</a:t>
            </a:r>
          </a:p>
          <a:p>
            <a:endParaRPr lang="en-US" dirty="0"/>
          </a:p>
          <a:p>
            <a:r>
              <a:rPr lang="en-US" dirty="0"/>
              <a:t>SAY: Always triple equals. Double equals converts types first → 5 == "5" is true → subtle bugs. Triple equals = strict.</a:t>
            </a:r>
          </a:p>
          <a:p>
            <a:endParaRPr lang="en-US" dirty="0"/>
          </a:p>
          <a:p>
            <a:r>
              <a:rPr lang="en-US" dirty="0"/>
              <a:t>SAY: Logical operators: &amp;&amp; = AND, || = OR, ! = NOT. &amp;&amp; in React = show something only if condition true.</a:t>
            </a:r>
          </a:p>
          <a:p>
            <a:endParaRPr lang="en-US" dirty="0"/>
          </a:p>
          <a:p>
            <a:r>
              <a:rPr lang="en-US" dirty="0"/>
              <a:t>DO: Run file. Change score to 85 and 30; run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9 min</a:t>
            </a:r>
          </a:p>
          <a:p>
            <a:endParaRPr lang="en-US" dirty="0"/>
          </a:p>
          <a:p>
            <a:r>
              <a:rPr lang="en-US" dirty="0"/>
              <a:t>SAY: Function = reusable recipe. Defined once with parameters (ingredients); used many times with arguments (actual values). return sends result back to caller.</a:t>
            </a:r>
          </a:p>
          <a:p>
            <a:endParaRPr lang="en-US" dirty="0"/>
          </a:p>
          <a:p>
            <a:r>
              <a:rPr lang="en-US" dirty="0"/>
              <a:t>SAY: calculateTip takes bill and percentage, returns tip. Called with 450 and 15; result stored.</a:t>
            </a:r>
          </a:p>
          <a:p>
            <a:endParaRPr lang="en-US" dirty="0"/>
          </a:p>
          <a:p>
            <a:r>
              <a:rPr lang="en-US" dirty="0"/>
              <a:t>SAY: Default parameters = fallback. greet() with no name uses "friend".</a:t>
            </a:r>
          </a:p>
          <a:p>
            <a:endParaRPr lang="en-US" dirty="0"/>
          </a:p>
          <a:p>
            <a:r>
              <a:rPr lang="en-US" dirty="0"/>
              <a:t>SAY: Scope: tip inside function = different variable from tip outside. let or const variables inside curly braces exist only inside those braces → functions independent, safe.</a:t>
            </a:r>
          </a:p>
          <a:p>
            <a:endParaRPr lang="en-US" dirty="0"/>
          </a:p>
          <a:p>
            <a:r>
              <a:rPr lang="en-US" dirty="0"/>
              <a:t>SAY: Key sentence of day: a React component is just a JavaScript function that returns what should appear on screen. Understand functions → halfway to components.</a:t>
            </a:r>
          </a:p>
          <a:p>
            <a:endParaRPr lang="en-US" dirty="0"/>
          </a:p>
          <a:p>
            <a:r>
              <a:rPr lang="en-US" dirty="0"/>
              <a:t>DO: Run file. Remove return statement → console.log prints undefined. Very common beginner bug.</a:t>
            </a:r>
          </a:p>
          <a:p>
            <a:endParaRPr lang="en-US" dirty="0"/>
          </a:p>
          <a:p>
            <a:r>
              <a:rPr lang="en-US" dirty="0"/>
              <a:t>ASK: What does a function with no return statement return? (undefined.)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9 min</a:t>
            </a:r>
          </a:p>
          <a:p>
            <a:endParaRPr lang="en-US" dirty="0"/>
          </a:p>
          <a:p>
            <a:r>
              <a:rPr lang="en-US" dirty="0"/>
              <a:t>SAY: Array = ordered list in square brackets. Positions start at zero; tasks[0] = first item. length = item count. push = add to end.</a:t>
            </a:r>
          </a:p>
          <a:p>
            <a:endParaRPr lang="en-US" dirty="0"/>
          </a:p>
          <a:p>
            <a:r>
              <a:rPr lang="en-US" dirty="0"/>
              <a:t>SAY: Object = one thing as key-value pairs in curly braces. Task: id, title, done flag, array of tags. Read with dot: task.title. Change same way.</a:t>
            </a:r>
          </a:p>
          <a:p>
            <a:endParaRPr lang="en-US" dirty="0"/>
          </a:p>
          <a:p>
            <a:r>
              <a:rPr lang="en-US" dirty="0"/>
              <a:t>SAY: Last example: array of objects. Pause; shape is everywhere (products, users, messages). API data almost always arrives like this. TaskBoard stores tasks exactly like this.</a:t>
            </a:r>
          </a:p>
          <a:p>
            <a:endParaRPr lang="en-US" dirty="0"/>
          </a:p>
          <a:p>
            <a:r>
              <a:rPr lang="en-US" dirty="0"/>
              <a:t>SAY: const on array and object, yet push and property changes still work. const stops reassigning variable, not changing what is inside. Day 2: why React avoids changing things in place anyway.</a:t>
            </a:r>
          </a:p>
          <a:p>
            <a:endParaRPr lang="en-US" dirty="0"/>
          </a:p>
          <a:p>
            <a:r>
              <a:rPr lang="en-US" dirty="0"/>
              <a:t>DO: Run file. Add console.log(board[1].title); room predicts output first.</a:t>
            </a:r>
          </a:p>
          <a:p>
            <a:endParaRPr lang="en-US" dirty="0"/>
          </a:p>
          <a:p>
            <a:r>
              <a:rPr lang="en-US" dirty="0"/>
              <a:t>ASK: How to print whether first task on board is done? (console.log(board[0].done).)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7 min</a:t>
            </a:r>
          </a:p>
          <a:p>
            <a:endParaRPr lang="en-US" dirty="0"/>
          </a:p>
          <a:p>
            <a:r>
              <a:rPr lang="en-US" dirty="0"/>
              <a:t>SAY: Lots of red text this week = normal. Errors say exactly what went wrong.</a:t>
            </a:r>
          </a:p>
          <a:p>
            <a:endParaRPr lang="en-US" dirty="0"/>
          </a:p>
          <a:p>
            <a:r>
              <a:rPr lang="en-US" dirty="0"/>
              <a:t>SAY: Read full message: type, description, location such as data.js:14. Go to that line first.</a:t>
            </a:r>
          </a:p>
          <a:p>
            <a:endParaRPr lang="en-US" dirty="0"/>
          </a:p>
          <a:p>
            <a:r>
              <a:rPr lang="en-US" dirty="0"/>
              <a:t>SAY: Three types. ReferenceError: misspelled variable name, or used before created. TypeError: value exists but used wrongly, e.g. reading .title of undefined. SyntaxError: not valid JavaScript, usually missing bracket or quote. VS Code underlines these in red before you run.</a:t>
            </a:r>
          </a:p>
          <a:p>
            <a:endParaRPr lang="en-US" dirty="0"/>
          </a:p>
          <a:p>
            <a:r>
              <a:rPr lang="en-US" dirty="0"/>
              <a:t>DO: Demo each: misspell variable; read property of undefined; delete closing brace. Read each message aloud.</a:t>
            </a:r>
          </a:p>
          <a:p>
            <a:endParaRPr lang="en-US" dirty="0"/>
          </a:p>
          <a:p>
            <a:r>
              <a:rPr lang="en-US" dirty="0"/>
              <a:t>DO: Demo breakpoint. Click gutter left of line number → red dot. Run and Debug (Ctrl+Shift+D or Cmd+Shift+D); choose Node.js; step with F10; watch variables in side panel.</a:t>
            </a:r>
          </a:p>
          <a:p>
            <a:endParaRPr lang="en-US" dirty="0"/>
          </a:p>
          <a:p>
            <a:r>
              <a:rPr lang="en-US" dirty="0"/>
              <a:t>SAY: Debugging loop: read error, guess, test with console.log, fix, repeat.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45 min</a:t>
            </a:r>
          </a:p>
          <a:p>
            <a:endParaRPr lang="en-US" dirty="0"/>
          </a:p>
          <a:p>
            <a:r>
              <a:rPr lang="en-US" dirty="0"/>
              <a:t>SAY: First lab; steps in order. Stuck over five minutes → hand up. Setup problems = friction, not learning; do not struggle alone.</a:t>
            </a:r>
          </a:p>
          <a:p>
            <a:endParaRPr lang="en-US" dirty="0"/>
          </a:p>
          <a:p>
            <a:r>
              <a:rPr lang="en-US" dirty="0"/>
              <a:t>DO: Walk room continuously. Check each machine against "Done when" list before lunch.</a:t>
            </a:r>
          </a:p>
          <a:p>
            <a:endParaRPr lang="en-US" dirty="0"/>
          </a:p>
          <a:p>
            <a:r>
              <a:rPr lang="en-US" dirty="0"/>
              <a:t>COMMON PROBLEMS:</a:t>
            </a:r>
          </a:p>
          <a:p>
            <a:r>
              <a:rPr lang="en-US" dirty="0"/>
              <a:t>1. PowerShell script execution disabled: Set-ExecutionPolicy -Scope CurrentUser RemoteSigned</a:t>
            </a:r>
          </a:p>
          <a:p>
            <a:r>
              <a:rPr lang="en-US" dirty="0"/>
              <a:t>2. Command not recognised after install: close all terminals; reopen.</a:t>
            </a:r>
          </a:p>
          <a:p>
            <a:r>
              <a:rPr lang="en-US" dirty="0"/>
              <a:t>3. Corporate laptops blocking installs: pair with neighbour; escalate to venue IT.</a:t>
            </a:r>
          </a:p>
          <a:p>
            <a:r>
              <a:rPr lang="en-US" dirty="0"/>
              <a:t>4. GitHub sign-in window does not appear: run git config credential.helper (without --global; installers set it at system level); should show manager (Windows) or osxkeychain (macOS). macOS: see Slide 15 note; needs token, Git Credential Manager or gh auth login.</a:t>
            </a:r>
          </a:p>
          <a:p>
            <a:r>
              <a:rPr lang="en-US" dirty="0"/>
              <a:t>5. README content: suggest "# React Course", then line with name and thing they want to build.</a:t>
            </a:r>
          </a:p>
          <a:p>
            <a:endParaRPr lang="en-US" dirty="0"/>
          </a:p>
          <a:p>
            <a:r>
              <a:rPr lang="en-US" dirty="0"/>
              <a:t>STRETCH: Early finishers: edit README locally, commit and push again, view commit history on GitHub.</a:t>
            </a:r>
          </a:p>
          <a:p>
            <a:endParaRPr lang="en-US" dirty="0"/>
          </a:p>
          <a:p>
            <a:r>
              <a:rPr lang="en-US" dirty="0"/>
              <a:t>DO: Before moving on: everyone pastes GitHub repository URL in course chat, or writes GitHub username on sheet → review work during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50 min</a:t>
            </a:r>
          </a:p>
          <a:p>
            <a:endParaRPr lang="en-US" dirty="0"/>
          </a:p>
          <a:p>
            <a:r>
              <a:rPr lang="en-US" dirty="0"/>
              <a:t>SAY: Simple profile page about yourself; need not be beautiful. Must use semantic tags, Flexbox for navigation, Grid for skills cards.</a:t>
            </a:r>
          </a:p>
          <a:p>
            <a:endParaRPr lang="en-US" dirty="0"/>
          </a:p>
          <a:p>
            <a:r>
              <a:rPr lang="en-US" dirty="0"/>
              <a:t>HINTS TO GIVE WHEN ASKED:</a:t>
            </a:r>
          </a:p>
          <a:p>
            <a:r>
              <a:rPr lang="en-US" dirty="0"/>
              <a:t>- Hover style: .btn:hover { background: #0e7490; color: white; }</a:t>
            </a:r>
          </a:p>
          <a:p>
            <a:r>
              <a:rPr lang="en-US" dirty="0"/>
              <a:t>- Card look: .card { padding: 16px; border: 1px solid #ddd; border-radius: 8px; }</a:t>
            </a:r>
          </a:p>
          <a:p>
            <a:r>
              <a:rPr lang="en-US" dirty="0"/>
              <a:t>- Centre the page: main { max-width: 900px; margin: 0 auto; }</a:t>
            </a:r>
          </a:p>
          <a:p>
            <a:r>
              <a:rPr lang="en-US" dirty="0"/>
              <a:t>- Box sizing reset at the top of the CSS: * { box-sizing: border-box; }</a:t>
            </a:r>
          </a:p>
          <a:p>
            <a:endParaRPr lang="en-US" dirty="0"/>
          </a:p>
          <a:p>
            <a:r>
              <a:rPr lang="en-US" dirty="0"/>
              <a:t>COMMON PROBLEMS:</a:t>
            </a:r>
          </a:p>
          <a:p>
            <a:r>
              <a:rPr lang="en-US" dirty="0"/>
              <a:t>1. Styles not applied: link href does not match filename, or style.css in different folder.</a:t>
            </a:r>
          </a:p>
          <a:p>
            <a:r>
              <a:rPr lang="en-US" dirty="0"/>
              <a:t>2. Changes not visible: cached page. Save; refresh with Ctrl+F5 or Cmd+Shift+R.</a:t>
            </a:r>
          </a:p>
          <a:p>
            <a:r>
              <a:rPr lang="en-US" dirty="0"/>
              <a:t>3. Flexbox not working: display: flex on child instead of parent container.</a:t>
            </a:r>
          </a:p>
          <a:p>
            <a:endParaRPr lang="en-US" dirty="0"/>
          </a:p>
          <a:p>
            <a:r>
              <a:rPr lang="en-US" dirty="0"/>
              <a:t>STRETCH: Responsive skills grid via media query: @media (max-width: 600px) { .cards { grid-template-columns: 1fr; } }</a:t>
            </a:r>
          </a:p>
          <a:p>
            <a:endParaRPr lang="en-US" dirty="0"/>
          </a:p>
          <a:p>
            <a:r>
              <a:rPr lang="en-US" dirty="0"/>
              <a:t>DO: Two or three delegates show page on projector. Praise semantic structure, not just visual polish.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50 min</a:t>
            </a:r>
          </a:p>
          <a:p>
            <a:endParaRPr lang="en-US" dirty="0"/>
          </a:p>
          <a:p>
            <a:r>
              <a:rPr lang="en-US" dirty="0"/>
              <a:t>SAY: Combines all of Module 1.4. Run file after every step; not everything written then run once at end.</a:t>
            </a:r>
          </a:p>
          <a:p>
            <a:endParaRPr lang="en-US" dirty="0"/>
          </a:p>
          <a:p>
            <a:r>
              <a:rPr lang="en-US" dirty="0"/>
              <a:t>EXPECTED SHAPE (show only if a delegate is stuck for more than 10 minutes):</a:t>
            </a:r>
          </a:p>
          <a:p>
            <a:r>
              <a:rPr lang="en-US" dirty="0"/>
              <a:t>const students = [{ name: "Ayanda", score: 82 }, ...];</a:t>
            </a:r>
          </a:p>
          <a:p>
            <a:r>
              <a:rPr lang="en-US" dirty="0"/>
              <a:t>let passed = 0;</a:t>
            </a:r>
          </a:p>
          <a:p>
            <a:r>
              <a:rPr lang="en-US" dirty="0"/>
              <a:t>for (let i = 0; i &lt; students.length; i++) {</a:t>
            </a:r>
          </a:p>
          <a:p>
            <a:r>
              <a:rPr lang="en-US" dirty="0"/>
              <a:t>  const grade = getGrade(students[i].score);</a:t>
            </a:r>
          </a:p>
          <a:p>
            <a:r>
              <a:rPr lang="en-US" dirty="0"/>
              <a:t>  console.log(students[i].name + ": " + grade);</a:t>
            </a:r>
          </a:p>
          <a:p>
            <a:r>
              <a:rPr lang="en-US" dirty="0"/>
              <a:t>  if (grade !== "Try again") passed++;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COMMON PROBLEMS:</a:t>
            </a:r>
          </a:p>
          <a:p>
            <a:r>
              <a:rPr lang="en-US" dirty="0"/>
              <a:t>1. undefined printed: function missing return.</a:t>
            </a:r>
          </a:p>
          <a:p>
            <a:r>
              <a:rPr lang="en-US" dirty="0"/>
              <a:t>2. NaN printed: value in the maths is undefined; usually missing argument or misspelled property such as students[i].scroe. (Misspelled variable name → ReferenceError instead; number in quotes → + joins text rather than adds.)</a:t>
            </a:r>
          </a:p>
          <a:p>
            <a:r>
              <a:rPr lang="en-US" dirty="0"/>
              <a:t>3. Loop goes one too far and crashes: i &lt;= students.length instead of i &lt; students.length.</a:t>
            </a:r>
          </a:p>
          <a:p>
            <a:endParaRPr lang="en-US" dirty="0"/>
          </a:p>
          <a:p>
            <a:r>
              <a:rPr lang="en-US" dirty="0"/>
              <a:t>STRETCH: Add average score. Add function returning top student. Money to two decimals: tip.toFixed(2).</a:t>
            </a:r>
          </a:p>
          <a:p>
            <a:endParaRPr lang="en-US" dirty="0"/>
          </a:p>
          <a:p>
            <a:r>
              <a:rPr lang="en-US" dirty="0"/>
              <a:t>SAY at the end: Tomorrow: this loop in one line with an array method. Keep file; we will compare.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8 min</a:t>
            </a:r>
          </a:p>
          <a:p>
            <a:endParaRPr lang="en-US" dirty="0"/>
          </a:p>
          <a:p>
            <a:r>
              <a:rPr lang="en-US" dirty="0"/>
              <a:t>SAY: Quick knowledge check. Shout out or write down answers. For us, not a test.</a:t>
            </a:r>
          </a:p>
          <a:p>
            <a:endParaRPr lang="en-US" dirty="0"/>
          </a:p>
          <a:p>
            <a:r>
              <a:rPr lang="en-US" dirty="0"/>
              <a:t>ANSWERS:</a:t>
            </a:r>
          </a:p>
          <a:p>
            <a:r>
              <a:rPr lang="en-US" dirty="0"/>
              <a:t>1. JavaScript.</a:t>
            </a:r>
          </a:p>
          <a:p>
            <a:r>
              <a:rPr lang="en-US" dirty="0"/>
              <a:t>2. const cannot be reassigned; let can. const by default.</a:t>
            </a:r>
          </a:p>
          <a:p>
            <a:r>
              <a:rPr lang="en-US" dirty="0"/>
              <a:t>3. git push.</a:t>
            </a:r>
          </a:p>
          <a:p>
            <a:r>
              <a:rPr lang="en-US" dirty="0"/>
              <a:t>4. "Fail".</a:t>
            </a:r>
          </a:p>
          <a:p>
            <a:r>
              <a:rPr lang="en-US" dirty="0"/>
              <a:t>5. undefined.</a:t>
            </a:r>
          </a:p>
          <a:p>
            <a:r>
              <a:rPr lang="en-US" dirty="0"/>
              <a:t>6. Most real app data = lists of records (tasks, users, products); React renders lists of objects constantly.</a:t>
            </a:r>
          </a:p>
          <a:p>
            <a:endParaRPr lang="en-US" dirty="0"/>
          </a:p>
          <a:p>
            <a:r>
              <a:rPr lang="en-US" dirty="0"/>
              <a:t>DO: Note questions causing hesitation → revisit in tomorrow morning's recap.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 (16:15 to 16:30)</a:t>
            </a:r>
          </a:p>
          <a:p>
            <a:endParaRPr lang="en-US" dirty="0"/>
          </a:p>
          <a:p>
            <a:r>
              <a:rPr lang="en-US" dirty="0"/>
              <a:t>SAY: Recap: how web page reaches browser; professional toolkit installed; code on GitHub; web page built; real JavaScript written.</a:t>
            </a:r>
          </a:p>
          <a:p>
            <a:endParaRPr lang="en-US" dirty="0"/>
          </a:p>
          <a:p>
            <a:r>
              <a:rPr lang="en-US" dirty="0"/>
              <a:t>SAY: Tonight: write summariseTasks. Loop over array of task objects; print "3 done, 2 remaining" or similar. Push to repository. 20 to 30 minutes.</a:t>
            </a:r>
          </a:p>
          <a:p>
            <a:endParaRPr lang="en-US" dirty="0"/>
          </a:p>
          <a:p>
            <a:r>
              <a:rPr lang="en-US" dirty="0"/>
              <a:t>SAY: Tomorrow: modern JavaScript: arrow functions, destructuring, array methods, async code = exact JavaScript React uses. End of tomorrow: first React project created.</a:t>
            </a:r>
          </a:p>
          <a:p>
            <a:endParaRPr lang="en-US" dirty="0"/>
          </a:p>
          <a:p>
            <a:r>
              <a:rPr lang="en-US" dirty="0"/>
              <a:t>DO: Remind: laptops charged, brought tomorrow with everything installed. Thank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Reference only</a:t>
            </a:r>
          </a:p>
          <a:p>
            <a:endParaRPr lang="en-US" dirty="0"/>
          </a:p>
          <a:p>
            <a:r>
              <a:rPr lang="en-US" dirty="0"/>
              <a:t>SAY: Official sources for today's topics; bookmark. MDN (Mozilla Developer Network) = most trusted reference for HTML, CSS, JavaScript. Add "mdn" to searches → reliable answer first.</a:t>
            </a:r>
          </a:p>
          <a:p>
            <a:endParaRPr lang="en-US" dirty="0"/>
          </a:p>
          <a:p>
            <a:r>
              <a:rPr lang="en-US" dirty="0"/>
              <a:t>DO: Share slide as link list in course chat.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hyperlink" Target="https://developer.mozilla.org/en-US/docs/Web/JavaScript/Guide" TargetMode="External"/><Relationship Id="rId3" Type="http://schemas.openxmlformats.org/officeDocument/2006/relationships/hyperlink" Target="https://nodejs.org/en/download" TargetMode="External"/><Relationship Id="rId7" Type="http://schemas.openxmlformats.org/officeDocument/2006/relationships/hyperlink" Target="https://developer.mozilla.org/en-US/docs/Learn_web_development/Core/Structuring_content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cs.github.com/en/get-started/start-your-journey/hello-world" TargetMode="External"/><Relationship Id="rId5" Type="http://schemas.openxmlformats.org/officeDocument/2006/relationships/hyperlink" Target="https://git-scm.com/downloads" TargetMode="External"/><Relationship Id="rId10" Type="http://schemas.openxmlformats.org/officeDocument/2006/relationships/hyperlink" Target="https://cssgridgarden.com/" TargetMode="External"/><Relationship Id="rId4" Type="http://schemas.openxmlformats.org/officeDocument/2006/relationships/hyperlink" Target="https://code.visualstudio.com/" TargetMode="External"/><Relationship Id="rId9" Type="http://schemas.openxmlformats.org/officeDocument/2006/relationships/hyperlink" Target="https://flexboxfroggy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822960"/>
            <a:ext cx="1828800" cy="182880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168" y="1298448"/>
            <a:ext cx="877824" cy="8778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9144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DEVELOPMENT: BEGINNER TO PROFESSIONAL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1732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2860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and JavaScript Essentials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38328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 professional development environment and write your first JavaScript programs.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Agenda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931920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143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Welcome, course map and the capstone project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143000"/>
            <a:ext cx="3931920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800600" y="1280160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8006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394960" y="1143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web works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3931920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94360" y="2148840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9436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0116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environment: Node.js, VS Code, terminal, Git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2011680"/>
            <a:ext cx="3931920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800600" y="2148840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8006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20116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and CSS refresher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880360"/>
            <a:ext cx="3931920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94360" y="3017520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5943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28803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fundamentals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63440" y="2880360"/>
            <a:ext cx="3931920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00600" y="3017520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480060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394960" y="28803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labs: setup, profile page, JavaScript exercises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|  Web and JavaScript Essentials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This Course Works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49377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theory, lots of practice.</a:t>
            </a: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Roughly 40% explanation and demos, 60% hands-on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capstone app all week.</a:t>
            </a: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TaskBoard, a team task manager, grows a little every day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knowledge check.</a:t>
            </a: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Five quick questions every morning on the previous day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Take-home practice.</a:t>
            </a: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One short exercise every evening to lock in the learning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early.</a:t>
            </a: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question asked today saves an hour of confusion tomorrow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669280" y="1143000"/>
            <a:ext cx="3017520" cy="3520440"/>
          </a:xfrm>
          <a:prstGeom prst="roundRect">
            <a:avLst>
              <a:gd name="adj" fmla="val 3030"/>
            </a:avLst>
          </a:prstGeom>
          <a:solidFill>
            <a:srgbClr val="ECFEFF"/>
          </a:solidFill>
          <a:ln w="12700">
            <a:solidFill>
              <a:srgbClr val="ECF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897880" y="1371600"/>
            <a:ext cx="548640" cy="5486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0526" y="151424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897880" y="2057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rule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897880" y="2468880"/>
            <a:ext cx="26060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the code yourself, even when you could copy it, is how the patterns move from the slide into your fingers.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|  Web and JavaScript Essentials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10-Day Journey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499616" cy="3383280"/>
          </a:xfrm>
          <a:prstGeom prst="roundRect">
            <a:avLst>
              <a:gd name="adj" fmla="val 487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48640" cy="5486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 to 2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51760"/>
            <a:ext cx="113385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Foundations: web basics, tools, JavaScript and modern JavaScript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139696" y="1234440"/>
            <a:ext cx="1499616" cy="3383280"/>
          </a:xfrm>
          <a:prstGeom prst="roundRect">
            <a:avLst>
              <a:gd name="adj" fmla="val 487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322576" y="1417320"/>
            <a:ext cx="548640" cy="5486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2322576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322576" y="2103120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3 to 5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322576" y="2651760"/>
            <a:ext cx="113385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core: components, props, state, effects and hooks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822192" y="1234440"/>
            <a:ext cx="1499616" cy="3383280"/>
          </a:xfrm>
          <a:prstGeom prst="roundRect">
            <a:avLst>
              <a:gd name="adj" fmla="val 487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005072" y="1417320"/>
            <a:ext cx="548640" cy="5486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005072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005072" y="2103120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6 to 8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005072" y="2651760"/>
            <a:ext cx="113385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tools: TypeScript, routing, state libraries, styling, forms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504688" y="1234440"/>
            <a:ext cx="1499616" cy="3383280"/>
          </a:xfrm>
          <a:prstGeom prst="roundRect">
            <a:avLst>
              <a:gd name="adj" fmla="val 487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687568" y="1417320"/>
            <a:ext cx="548640" cy="5486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5687568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687568" y="2103120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9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687568" y="2651760"/>
            <a:ext cx="113385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Full-stack: Next.js, Server Components and a Supabase database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187184" y="1234440"/>
            <a:ext cx="1499616" cy="3383280"/>
          </a:xfrm>
          <a:prstGeom prst="roundRect">
            <a:avLst>
              <a:gd name="adj" fmla="val 487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370064" y="1417320"/>
            <a:ext cx="548640" cy="5486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7370064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370064" y="2103120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10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370064" y="2651760"/>
            <a:ext cx="113385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it: performance, testing, CI/CD and deployment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|  Web and JavaScript Essentials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914400" cy="9144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609344"/>
            <a:ext cx="438912" cy="4389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514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1.1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Web Works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611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Browsers, servers, and where React fits in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|  Web and JavaScript Essentials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Languages of the Browser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560320" cy="3520440"/>
          </a:xfrm>
          <a:prstGeom prst="roundRect">
            <a:avLst>
              <a:gd name="adj" fmla="val 285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85800" y="12801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HTML: structure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2103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content and its meaning: headings, paragraphs, buttons, images, forms. Think of it as the skeleton of a house.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143000"/>
            <a:ext cx="2560320" cy="3520440"/>
          </a:xfrm>
          <a:prstGeom prst="roundRect">
            <a:avLst>
              <a:gd name="adj" fmla="val 2857"/>
            </a:avLst>
          </a:prstGeom>
          <a:solidFill>
            <a:srgbClr val="ECFEFF"/>
          </a:solidFill>
          <a:ln w="12700">
            <a:solidFill>
              <a:srgbClr val="ECF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3520440" y="12801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CSS: presentation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1874520"/>
            <a:ext cx="2103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looks: colours, fonts, spacing, layout, animation. Think of it as the paint, tiles and furniture.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143000"/>
            <a:ext cx="2560320" cy="3520440"/>
          </a:xfrm>
          <a:prstGeom prst="roundRect">
            <a:avLst>
              <a:gd name="adj" fmla="val 285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355080" y="12801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JavaScript: behaviour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1874520"/>
            <a:ext cx="2103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does: reacting to clicks, loading data, updating the page without a reload. Think of it as the electricity and plumbing.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|  Web and JavaScript Essentials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When You Visit a URL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920240" cy="338328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48640" cy="5486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type a URL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1554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looks up the server's address using DNS, much like looking up a phone number.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0" y="1234440"/>
            <a:ext cx="1920240" cy="338328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0" y="1417320"/>
            <a:ext cx="548640" cy="5486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274320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2103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sends a request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2697480"/>
            <a:ext cx="1554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HTTP GET request asks the server for the page.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1234440"/>
            <a:ext cx="1920240" cy="338328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46320" y="1417320"/>
            <a:ext cx="548640" cy="5486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84632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103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sends a response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697480"/>
            <a:ext cx="1554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replies with HTML, plus links to CSS, JavaScript and images, and a status code such as 200 or 404.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66560" y="1234440"/>
            <a:ext cx="1920240" cy="338328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49440" y="1417320"/>
            <a:ext cx="548640" cy="5486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9494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2103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renders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2697480"/>
            <a:ext cx="1554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builds the page, applies the CSS and runs the JavaScript, which can change the page at any time.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|  Web and JavaScript Essentials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React, and Why Does It Exist?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49377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JavaScript library for building user interfaces</a:t>
            </a: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created at Facebook and open source since 2013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Components:</a:t>
            </a: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you build the UI from small, reusable pieces, like building blocks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Declarative:</a:t>
            </a: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you describe what the screen should look like for the current data, and React updates the page for you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ecosystem:</a:t>
            </a: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used by Meta, Netflix, Airbnb, Microsoft, Shopify and thousands of employers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React 19</a:t>
            </a: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current major version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669280" y="1143000"/>
            <a:ext cx="3017520" cy="3520440"/>
          </a:xfrm>
          <a:prstGeom prst="roundRect">
            <a:avLst>
              <a:gd name="adj" fmla="val 3030"/>
            </a:avLst>
          </a:prstGeom>
          <a:solidFill>
            <a:srgbClr val="ECFEFF"/>
          </a:solidFill>
          <a:ln w="12700">
            <a:solidFill>
              <a:srgbClr val="ECF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897880" y="1371600"/>
            <a:ext cx="548640" cy="5486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0526" y="151424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897880" y="2057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idea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897880" y="2468880"/>
            <a:ext cx="26060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React you must manually find and change every part of the page when data changes. With React you change the data, and the page follows.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|  Web and JavaScript Essentials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914400" cy="9144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609344"/>
            <a:ext cx="438912" cy="4389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514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1.2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Environment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611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professional toolkit you will use every day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|  Web and JavaScript Essentials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Tools We Install Today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977640" cy="1623060"/>
          </a:xfrm>
          <a:prstGeom prst="roundRect">
            <a:avLst>
              <a:gd name="adj" fmla="val 450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85800" y="12801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and npm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35204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JavaScript outside the browser. npm installs packages, including React itself. Install the current LTS release from nodejs.org.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09160" y="1143000"/>
            <a:ext cx="3977640" cy="1623060"/>
          </a:xfrm>
          <a:prstGeom prst="roundRect">
            <a:avLst>
              <a:gd name="adj" fmla="val 4507"/>
            </a:avLst>
          </a:prstGeom>
          <a:solidFill>
            <a:srgbClr val="ECFEFF"/>
          </a:solidFill>
          <a:ln w="12700">
            <a:solidFill>
              <a:srgbClr val="ECF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937760" y="12801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Studio Code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691640"/>
            <a:ext cx="35204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code editor with excellent JavaScript and React support. Download from code.visualstudio.com.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040380"/>
            <a:ext cx="3977640" cy="1623060"/>
          </a:xfrm>
          <a:prstGeom prst="roundRect">
            <a:avLst>
              <a:gd name="adj" fmla="val 450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85800" y="31775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and GitHub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589020"/>
            <a:ext cx="35204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tracks every change to your code. GitHub stores your code online and is your public portfolio.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3040380"/>
            <a:ext cx="3977640" cy="1623060"/>
          </a:xfrm>
          <a:prstGeom prst="roundRect">
            <a:avLst>
              <a:gd name="adj" fmla="val 4507"/>
            </a:avLst>
          </a:prstGeom>
          <a:solidFill>
            <a:srgbClr val="ECFEFF"/>
          </a:solidFill>
          <a:ln w="12700">
            <a:solidFill>
              <a:srgbClr val="ECF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937760" y="31775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 or Edge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3589020"/>
            <a:ext cx="35204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browser with DevTools. Add the React Developer Tools extension for Day 3.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|  Web and JavaScript Essentials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 Installation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65760" cy="36576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298" y="1192378"/>
            <a:ext cx="175565" cy="17556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8680" y="1097280"/>
            <a:ext cx="365760" cy="36576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778" y="1192378"/>
            <a:ext cx="175565" cy="17556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2588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and macOS: same commands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457200" y="1572768"/>
            <a:ext cx="8229600" cy="2560320"/>
          </a:xfrm>
          <a:prstGeom prst="roundRect">
            <a:avLst>
              <a:gd name="adj" fmla="val 2857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 txBox="1"/>
          <p:nvPr/>
        </p:nvSpPr>
        <p:spPr>
          <a:xfrm>
            <a:off x="594360" y="1682496"/>
            <a:ext cx="7955280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-v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pnpm</a:t>
            </a: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-v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--version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--version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42245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command should print a version number. If a command is not recognised, close and reopen the terminal first.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|  Web and JavaScript Essentials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Survival Kit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65760" cy="36576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298" y="1192378"/>
            <a:ext cx="175565" cy="17556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14400" y="1097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(PowerShell)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572768"/>
            <a:ext cx="4023360" cy="2560320"/>
          </a:xfrm>
          <a:prstGeom prst="roundRect">
            <a:avLst>
              <a:gd name="adj" fmla="val 2857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594360" y="1682496"/>
            <a:ext cx="3749040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Get-Location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react-course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react-course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..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663440" y="1097280"/>
            <a:ext cx="365760" cy="36576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8538" y="1192378"/>
            <a:ext cx="175565" cy="17556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120640" y="1097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macOS (Terminal)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663440" y="1572768"/>
            <a:ext cx="4023360" cy="2560320"/>
          </a:xfrm>
          <a:prstGeom prst="roundRect">
            <a:avLst>
              <a:gd name="adj" fmla="val 2857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4800600" y="1682496"/>
            <a:ext cx="3749040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pwd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react-course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react-course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..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.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42245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Get-Location / pwd: where am I?   ls: what is here?   cd: move   mkdir: make a folder   code . : open this folder in VS Code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|  Web and JavaScript Essentials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VS Code Like a Professional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092440" y="365760"/>
            <a:ext cx="548640" cy="5486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5086" y="508406"/>
            <a:ext cx="263347" cy="26334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143000"/>
            <a:ext cx="82296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Prettier:</a:t>
            </a: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formats your code automatically every time you save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ESLint:</a:t>
            </a: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highlights mistakes and bad patterns as you type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Rename Tag:</a:t>
            </a: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renames the closing HTML tag when you edit the opening one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Settings:</a:t>
            </a: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turn on Format On Save, and set Prettier as the default formatter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Shortcuts:</a:t>
            </a: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Ctrl/Cmd+P open file, Ctrl/Cmd+Shift+P command palette, Alt/Option+Up/Down move a line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|  Web and JavaScript Essentials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Git Workflow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920240" cy="338328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48640" cy="5486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Initialise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51760"/>
            <a:ext cx="15544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init turns a folder into a repository. Git now watches it.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0" y="1234440"/>
            <a:ext cx="1920240" cy="338328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0" y="1417320"/>
            <a:ext cx="548640" cy="5486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274320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2103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2651760"/>
            <a:ext cx="15544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. selects the changes you want to save in the next snapshot.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1234440"/>
            <a:ext cx="1920240" cy="338328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46320" y="1417320"/>
            <a:ext cx="548640" cy="5486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84632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103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651760"/>
            <a:ext cx="15544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 -m "message" saves a labelled snapshot on your computer.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66560" y="1234440"/>
            <a:ext cx="1920240" cy="338328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49440" y="1417320"/>
            <a:ext cx="548640" cy="5486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9494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2103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2651760"/>
            <a:ext cx="15544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uploads your commits to GitHub so they are backed up and visible.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|  Web and JavaScript Essentials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First Repository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65760" cy="36576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298" y="1192378"/>
            <a:ext cx="175565" cy="17556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8680" y="1097280"/>
            <a:ext cx="365760" cy="36576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778" y="1192378"/>
            <a:ext cx="175565" cy="17556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2588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and macOS: same commands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457200" y="1572768"/>
            <a:ext cx="8229600" cy="2560320"/>
          </a:xfrm>
          <a:prstGeom prst="roundRect">
            <a:avLst>
              <a:gd name="adj" fmla="val 2857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 txBox="1"/>
          <p:nvPr/>
        </p:nvSpPr>
        <p:spPr>
          <a:xfrm>
            <a:off x="594360" y="1682496"/>
            <a:ext cx="7955280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user.name "Your Name"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user.email "you@example.com"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"Initial commit"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-M main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add origin &lt;your-repo-url&gt;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main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42245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two config lines once per computer. Copy &lt;your-repo-url&gt; from the green Code button on your new GitHub repository.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|  Web and JavaScript Essentials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914400" cy="9144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609344"/>
            <a:ext cx="438912" cy="4389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514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1.3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and CSS Refresher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611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enough to read and write what React produces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|  Web and JavaScript Essentials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HTML: A Page Skeleton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389120" cy="3520440"/>
          </a:xfrm>
          <a:prstGeom prst="roundRect">
            <a:avLst>
              <a:gd name="adj" fmla="val 207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1298448"/>
            <a:ext cx="411480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 lang="en"&gt;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&lt;head&gt;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&lt;title&gt;My Profile&lt;/title&gt;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&lt;link rel="stylesheet" href="style.css" /&gt;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&lt;/head&gt;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&lt;body&gt;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&lt;header&gt;&lt;h1&gt;Thandi Mokoena&lt;/h1&gt;&lt;/header&gt;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&lt;main&gt;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&lt;section&gt;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&lt;h2&gt;About me&lt;/h2&gt;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&lt;p&gt;Aspiring React developer.&lt;/p&gt;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&lt;button&gt;Contact me&lt;/button&gt;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&lt;/section&gt;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&lt;/main&gt;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&lt;footer&gt;2026&lt;/footer&gt;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&lt;/body&gt;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120640" y="1188720"/>
            <a:ext cx="35661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have an opening and closing tag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add settings: lang, rel, href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tags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such as header, main, section and footer describe meaning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 helps screen readers and search engines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! then Tab in VS Code for a skeleton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|  Web and JavaScript Essentials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Layout: Flexbox and Grid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023360" cy="3520440"/>
          </a:xfrm>
          <a:prstGeom prst="roundRect">
            <a:avLst>
              <a:gd name="adj" fmla="val 207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85800" y="1280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Flexbox: one direction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657600" cy="2743200"/>
          </a:xfrm>
          <a:prstGeom prst="roundRect">
            <a:avLst>
              <a:gd name="adj" fmla="val 2667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892808"/>
            <a:ext cx="338328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.nav {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flex;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justify-content: space-between;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align-items: center;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gap: 16px;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143000"/>
            <a:ext cx="4023360" cy="3520440"/>
          </a:xfrm>
          <a:prstGeom prst="roundRect">
            <a:avLst>
              <a:gd name="adj" fmla="val 2078"/>
            </a:avLst>
          </a:prstGeom>
          <a:solidFill>
            <a:srgbClr val="ECFEFF"/>
          </a:solidFill>
          <a:ln w="12700">
            <a:solidFill>
              <a:srgbClr val="ECF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892040" y="1280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Grid: rows and columns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846320" y="1783080"/>
            <a:ext cx="3657600" cy="2743200"/>
          </a:xfrm>
          <a:prstGeom prst="roundRect">
            <a:avLst>
              <a:gd name="adj" fmla="val 2667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83480" y="1892808"/>
            <a:ext cx="338328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.cards {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grid;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grid-template-columns: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repeat(3, 1fr);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gap: 24px;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|  Web and JavaScript Essentials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914400" cy="9144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609344"/>
            <a:ext cx="438912" cy="4389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514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1.4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Fundamentals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611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React is written in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|  Web and JavaScript Essentials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and Data Types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basics.js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021580" cy="3520440"/>
          </a:xfrm>
          <a:prstGeom prst="roundRect">
            <a:avLst>
              <a:gd name="adj" fmla="val 207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1298448"/>
            <a:ext cx="474726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courseName = "React Bootcamp"; // string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days = 10;            // number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isBeginner = true;    // boolean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completedDays = 0;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completedDays = completedDays + 1; // ok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days = 11; TypeError: const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nickname;               // undefined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mentor = null;        // empty on purpose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console.log(courseName, days, isBeginner);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console.log(typeof days);   // "number"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753100" y="1188720"/>
            <a:ext cx="29337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const: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cannot be reassigned. Use it by default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let: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 only when the value must change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var: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is the old way and behaves surprisingly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with: node basics.js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|  Web and JavaScript Essentials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and Repetition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control.js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394960" cy="3520440"/>
          </a:xfrm>
          <a:prstGeom prst="roundRect">
            <a:avLst>
              <a:gd name="adj" fmla="val 207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1298448"/>
            <a:ext cx="512064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score = 72;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(score &gt;= 80) {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console.log("Distinction");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if (score &gt;= 50) {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console.log("Pass");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console.log("Try again");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label = score &gt;= 50 ? "Pass" : "Fail"; // ternary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 = 1; i &lt;= 3; i++) {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console.log("Day " + i);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console.log(5 === "5");  // false: always use ===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188720"/>
            <a:ext cx="25603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 if / else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choose a path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Ternary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one-line if/else. You will use it constantly in React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repeats code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=== and !==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compare value and type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|  Web and JavaScript Essentials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 and Scope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functions.js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922520" cy="3520440"/>
          </a:xfrm>
          <a:prstGeom prst="roundRect">
            <a:avLst>
              <a:gd name="adj" fmla="val 207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1298448"/>
            <a:ext cx="464820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calculateTip(bill, percent) {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tip = bill * (percent / 100);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tip;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tip = calculateTip(450, 15);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console.log("Tip: R" + tip);  // Tip: R67.5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greet(name = "friend") {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"Hello, " + name;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console.log(greet("Sipho"));  // Hello, Sipho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console.log(greet());         // Hello, friend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654040" y="1188720"/>
            <a:ext cx="30327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inputs; return sends back the output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values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apply when an argument is missing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variables inside a function stay inside it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React component is just a function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|  Web and JavaScript Essentials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Arrays and Objects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data.js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389120" cy="3520440"/>
          </a:xfrm>
          <a:prstGeom prst="roundRect">
            <a:avLst>
              <a:gd name="adj" fmla="val 207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1298448"/>
            <a:ext cx="411480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tasks = ["Install Node", "Learn Git"];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console.log(tasks[0]);     // "Install Node"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console.log(tasks.length); // 2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tasks.push("Write JS");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task = {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id: 1,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title: "Learn Git",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done: false,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tags: ["tools", "day1"],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console.log(task.title);   // "Learn Git"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task.done = true;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board = [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id: 1, title: "Install Node", done: true },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id: 2, title: "Learn Git", done: false },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120640" y="1188720"/>
            <a:ext cx="35661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Array: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 ordered list, counted from 0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Object: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thing described by key: value pairs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of objects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shape of almost all app data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how TaskBoard stores tasks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|  Web and JavaScript Essentials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Debugging: Reading Errors Without Panic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49377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whole error.</a:t>
            </a: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names the type, the message, the file and the line number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ReferenceError:</a:t>
            </a: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you used a name that does not exist. Usually a typo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TypeError:</a:t>
            </a: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you used a value the wrong way, for example calling undefined as a function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SyntaxError:</a:t>
            </a: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missing bracket, quote or comma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console.log</a:t>
            </a: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value right before the line that fails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Breakpoints:</a:t>
            </a: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VS Code, click left of a line number, then Run and Debug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0" y="1143000"/>
            <a:ext cx="3017520" cy="3520440"/>
          </a:xfrm>
          <a:prstGeom prst="roundRect">
            <a:avLst>
              <a:gd name="adj" fmla="val 3030"/>
            </a:avLst>
          </a:prstGeom>
          <a:solidFill>
            <a:srgbClr val="ECFEFF"/>
          </a:solidFill>
          <a:ln w="12700">
            <a:solidFill>
              <a:srgbClr val="ECF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897880" y="1371600"/>
            <a:ext cx="548640" cy="5486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0526" y="151424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897880" y="2057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Mindset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897880" y="2468880"/>
            <a:ext cx="26060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developer sees errors all day. Senior developers are simply faster at reading them.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|  Web and JavaScript Essentials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1" y="486461"/>
            <a:ext cx="307238" cy="3072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1.1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53035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Setup and First GitHub Repository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toolchain and your first project pushed to GitHub.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737360"/>
            <a:ext cx="5394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Node.js LTS, VS Code, Git and Chrome or Edge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node -v, npm -v, git --version and code --version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Prettier, ESLint and Auto Rename Tag; enable Format On Save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GitHub account if you do not have one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react-course folder and open it with code 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README.md with your name and course goal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git config, init, add and commit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empty GitHub repo and push to it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26480" y="173736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6309360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when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2240280"/>
            <a:ext cx="22402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version commands print a number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README is visible on github.com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open the VS Code terminal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309360" y="4297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45 min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|  Web and JavaScript Essentials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1" y="486461"/>
            <a:ext cx="307238" cy="3072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1.2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53035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Static Profile Page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profile page using semantic HTML and CSS layout.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737360"/>
            <a:ext cx="5394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react-course create a folder profile-page with index.html and style.css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! + Tab to generate the skeleton and link style.css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header, nav, main, sections for About, Skills and Goals, and footer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the nav with Flexbox: name left, links right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your skills as a grid of three cards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button and style its hover state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page in the browser and inspect it with DevTools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and push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26480" y="173736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6309360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when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2240280"/>
            <a:ext cx="22402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uses semantic tags, not only divs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uses Flexbox, skills use Grid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are pushed to GitHub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309360" y="4297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50 min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|  Web and JavaScript Essentials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1" y="486461"/>
            <a:ext cx="307238" cy="3072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1.3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53035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Exercises: Tip Calculator and Grade Checker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Practise variables, conditionals, functions, arrays and objects in Node.js.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737360"/>
            <a:ext cx="5394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js-basics create lab1-3.js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calculateTip(bill, percent) that returns the tip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totalWithTip(bill, percent) that reuses calculateTip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getGrade(score) returning Distinction, Pass or Try again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array of 4 student objects with name and score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through the students and log each name with their grade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how many students passed and log the total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with node lab1-3.js, then commit and push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26480" y="173736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6309360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when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2240280"/>
            <a:ext cx="22402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functions return values (no undefined)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lists every student with a grade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count is correct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309360" y="4297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50 min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|  Web and JavaScript Essentials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92440" y="365760"/>
            <a:ext cx="548640" cy="5486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5086" y="508406"/>
            <a:ext cx="263347" cy="26334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browser language controls behaviour: HTML, CSS or JavaScript?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const and let?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Git command uploads your commits to GitHub?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ternary expression score &gt;= 50 ? "Pass" : "Fail" return when score is 40?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a function return if it has no return statement?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an array of objects such an important data shape?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|  Web and JavaScript Essentials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Wrap-Up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speaks HTML, CSS and JavaScript; React generates all three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runs JavaScript on your machine; npm installs packages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snapshots your work; GitHub stores it and becomes your portfolio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 plus Flexbox and Grid cover most layouts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conditions, functions, arrays and objects are the building blocks of every React app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0" y="1188720"/>
            <a:ext cx="3200400" cy="347472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715000" y="1371600"/>
            <a:ext cx="548640" cy="5486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646" y="151424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71500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Take-home practice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715000" y="2423160"/>
            <a:ext cx="2788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function called summariseTasks(tasks) that takes an array of task objects with title and done, and logs how many are done and how many remain. Push it to GitHub. Optional: play five levels of flexboxfroggy.com.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|  Web and JavaScript Essentials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Links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downloads  </a:t>
            </a:r>
            <a:r>
              <a:rPr lang="en-US" sz="130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https://nodejs.org/en/download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 </a:t>
            </a:r>
            <a:r>
              <a:rPr lang="en-US" sz="130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https://code.visualstudio.com/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 </a:t>
            </a:r>
            <a:r>
              <a:rPr lang="en-US" sz="130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https://git-scm.com/downloads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Docs: Hello World  </a:t>
            </a:r>
            <a:r>
              <a:rPr lang="en-US" sz="130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https://docs.github.com/en/get-started/start-your-journey/hello-world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MDN: HTML basics  </a:t>
            </a:r>
            <a:r>
              <a:rPr lang="en-US" sz="130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https://developer.mozilla.org/en-US/docs/Learn_web_development/Core/Structuring_content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MDN: JavaScript guide  </a:t>
            </a:r>
            <a:r>
              <a:rPr lang="en-US" sz="130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https://developer.mozilla.org/en-US/docs/Web/JavaScript/Guide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Froggy  </a:t>
            </a:r>
            <a:r>
              <a:rPr lang="en-US" sz="130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https://flexboxfroggy.com/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Garden  </a:t>
            </a:r>
            <a:r>
              <a:rPr lang="en-US" sz="130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https://cssgridgarden.com/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|  Web and JavaScript Essentials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9114</Words>
  <Application>Microsoft Macintosh PowerPoint</Application>
  <PresentationFormat>On-screen Show (16:9)</PresentationFormat>
  <Paragraphs>468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 Development Day 1: Web and JavaScript Essentials</dc:title>
  <dc:subject>PptxGenJS Presentation</dc:subject>
  <dc:creator>PptxGenJS</dc:creator>
  <cp:lastModifiedBy>THYNK  PAY</cp:lastModifiedBy>
  <cp:revision>2</cp:revision>
  <dcterms:created xsi:type="dcterms:W3CDTF">2026-09-15T13:24:53Z</dcterms:created>
  <dcterms:modified xsi:type="dcterms:W3CDTF">2026-09-17T10:54:06Z</dcterms:modified>
</cp:coreProperties>
</file>